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embeddedFontLst>
    <p:embeddedFont>
      <p:font typeface="Urbanist Medium"/>
      <p:regular r:id="rId20"/>
      <p:bold r:id="rId21"/>
      <p:italic r:id="rId22"/>
      <p:boldItalic r:id="rId23"/>
    </p:embeddedFont>
    <p:embeddedFont>
      <p:font typeface="Urbanist"/>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UrbanistMedium-regular.fntdata"/><Relationship Id="rId22" Type="http://schemas.openxmlformats.org/officeDocument/2006/relationships/font" Target="fonts/UrbanistMedium-italic.fntdata"/><Relationship Id="rId21" Type="http://schemas.openxmlformats.org/officeDocument/2006/relationships/font" Target="fonts/UrbanistMedium-bold.fntdata"/><Relationship Id="rId24" Type="http://schemas.openxmlformats.org/officeDocument/2006/relationships/font" Target="fonts/Urbanist-regular.fntdata"/><Relationship Id="rId23" Type="http://schemas.openxmlformats.org/officeDocument/2006/relationships/font" Target="fonts/UrbanistMedium-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Urbanist-italic.fntdata"/><Relationship Id="rId25" Type="http://schemas.openxmlformats.org/officeDocument/2006/relationships/font" Target="fonts/Urbanist-bold.fntdata"/><Relationship Id="rId27" Type="http://schemas.openxmlformats.org/officeDocument/2006/relationships/font" Target="fonts/Urbanis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e884363489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g3e884363489_1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e884363489_1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g3e884363489_1_1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12.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7.png"/><Relationship Id="rId9" Type="http://schemas.openxmlformats.org/officeDocument/2006/relationships/image" Target="../media/image6.png"/><Relationship Id="rId5" Type="http://schemas.openxmlformats.org/officeDocument/2006/relationships/image" Target="../media/image25.png"/><Relationship Id="rId6" Type="http://schemas.openxmlformats.org/officeDocument/2006/relationships/image" Target="../media/image10.png"/><Relationship Id="rId7" Type="http://schemas.openxmlformats.org/officeDocument/2006/relationships/image" Target="../media/image9.png"/><Relationship Id="rId8"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2.png"/><Relationship Id="rId11" Type="http://schemas.openxmlformats.org/officeDocument/2006/relationships/image" Target="../media/image14.png"/><Relationship Id="rId10" Type="http://schemas.openxmlformats.org/officeDocument/2006/relationships/image" Target="../media/image13.png"/><Relationship Id="rId12" Type="http://schemas.openxmlformats.org/officeDocument/2006/relationships/image" Target="../media/image28.png"/><Relationship Id="rId9" Type="http://schemas.openxmlformats.org/officeDocument/2006/relationships/image" Target="../media/image18.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17.png"/><Relationship Id="rId8"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29.png"/><Relationship Id="rId5" Type="http://schemas.openxmlformats.org/officeDocument/2006/relationships/image" Target="../media/image19.png"/><Relationship Id="rId6" Type="http://schemas.openxmlformats.org/officeDocument/2006/relationships/image" Target="../media/image24.png"/></Relationships>
</file>

<file path=ppt/slides/_rels/slide11.xml.rels><?xml version="1.0" encoding="UTF-8" standalone="yes"?><Relationships xmlns="http://schemas.openxmlformats.org/package/2006/relationships"><Relationship Id="rId11" Type="http://schemas.openxmlformats.org/officeDocument/2006/relationships/image" Target="../media/image27.png"/><Relationship Id="rId10" Type="http://schemas.openxmlformats.org/officeDocument/2006/relationships/image" Target="../media/image31.png"/><Relationship Id="rId13" Type="http://schemas.openxmlformats.org/officeDocument/2006/relationships/image" Target="../media/image22.png"/><Relationship Id="rId12" Type="http://schemas.openxmlformats.org/officeDocument/2006/relationships/image" Target="../media/image26.png"/><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32.png"/><Relationship Id="rId9" Type="http://schemas.openxmlformats.org/officeDocument/2006/relationships/image" Target="../media/image23.png"/><Relationship Id="rId5" Type="http://schemas.openxmlformats.org/officeDocument/2006/relationships/image" Target="../media/image30.png"/><Relationship Id="rId6" Type="http://schemas.openxmlformats.org/officeDocument/2006/relationships/image" Target="../media/image33.png"/><Relationship Id="rId7" Type="http://schemas.openxmlformats.org/officeDocument/2006/relationships/image" Target="../media/image35.png"/><Relationship Id="rId8"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3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1675447" y="2347019"/>
            <a:ext cx="8841105" cy="16764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6000" u="none" cap="none" strike="noStrike">
                <a:solidFill>
                  <a:srgbClr val="F5F5F5"/>
                </a:solidFill>
                <a:latin typeface="Urbanist"/>
                <a:ea typeface="Urbanist"/>
                <a:cs typeface="Urbanist"/>
                <a:sym typeface="Urbanist"/>
              </a:rPr>
              <a:t>Épreuve EF3 </a:t>
            </a:r>
            <a:br>
              <a:rPr b="0" i="0" lang="en-US" sz="1800" u="none" cap="none" strike="noStrike">
                <a:solidFill>
                  <a:schemeClr val="dk1"/>
                </a:solidFill>
                <a:latin typeface="Calibri"/>
                <a:ea typeface="Calibri"/>
                <a:cs typeface="Calibri"/>
                <a:sym typeface="Calibri"/>
              </a:rPr>
            </a:br>
            <a:r>
              <a:rPr b="1" i="0" lang="en-US" sz="6000" u="none" cap="none" strike="noStrike">
                <a:solidFill>
                  <a:srgbClr val="DEFF9A"/>
                </a:solidFill>
                <a:latin typeface="Urbanist"/>
                <a:ea typeface="Urbanist"/>
                <a:cs typeface="Urbanist"/>
                <a:sym typeface="Urbanist"/>
              </a:rPr>
              <a:t>Parcours de Certification</a:t>
            </a:r>
            <a:endParaRPr/>
          </a:p>
        </p:txBody>
      </p:sp>
      <p:sp>
        <p:nvSpPr>
          <p:cNvPr id="86" name="Google Shape;86;p13"/>
          <p:cNvSpPr txBox="1"/>
          <p:nvPr/>
        </p:nvSpPr>
        <p:spPr>
          <a:xfrm>
            <a:off x="3452812" y="4213919"/>
            <a:ext cx="5286375" cy="29706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800" u="none" cap="none" strike="noStrike">
                <a:solidFill>
                  <a:srgbClr val="DAFFDE"/>
                </a:solidFill>
                <a:latin typeface="Urbanist Medium"/>
                <a:ea typeface="Urbanist Medium"/>
                <a:cs typeface="Urbanist Medium"/>
                <a:sym typeface="Urbanist Medium"/>
              </a:rPr>
              <a:t>Présentation de la certification PIX - Niveau Avancé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0" name="Shape 90"/>
        <p:cNvGrpSpPr/>
        <p:nvPr/>
      </p:nvGrpSpPr>
      <p:grpSpPr>
        <a:xfrm>
          <a:off x="0" y="0"/>
          <a:ext cx="0" cy="0"/>
          <a:chOff x="0" y="0"/>
          <a:chExt cx="0" cy="0"/>
        </a:xfrm>
      </p:grpSpPr>
      <p:pic>
        <p:nvPicPr>
          <p:cNvPr descr="image.png" id="91" name="Google Shape;91;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2" name="Google Shape;92;p14"/>
          <p:cNvPicPr preferRelativeResize="0"/>
          <p:nvPr/>
        </p:nvPicPr>
        <p:blipFill rotWithShape="1">
          <a:blip r:embed="rId4">
            <a:alphaModFix/>
          </a:blip>
          <a:srcRect b="0" l="0" r="0" t="0"/>
          <a:stretch/>
        </p:blipFill>
        <p:spPr>
          <a:xfrm>
            <a:off x="6334125" y="1371600"/>
            <a:ext cx="5286375" cy="4286250"/>
          </a:xfrm>
          <a:prstGeom prst="rect">
            <a:avLst/>
          </a:prstGeom>
          <a:noFill/>
          <a:ln>
            <a:noFill/>
          </a:ln>
        </p:spPr>
      </p:pic>
      <p:sp>
        <p:nvSpPr>
          <p:cNvPr id="93" name="Google Shape;93;p14"/>
          <p:cNvSpPr txBox="1"/>
          <p:nvPr/>
        </p:nvSpPr>
        <p:spPr>
          <a:xfrm>
            <a:off x="571500" y="47625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75" u="none" cap="none" strike="noStrike">
                <a:solidFill>
                  <a:srgbClr val="F5F5F5"/>
                </a:solidFill>
                <a:latin typeface="Urbanist"/>
                <a:ea typeface="Urbanist"/>
                <a:cs typeface="Urbanist"/>
                <a:sym typeface="Urbanist"/>
              </a:rPr>
              <a:t>Mon Projet </a:t>
            </a:r>
            <a:r>
              <a:rPr b="1" i="0" lang="en-US" sz="3375" u="none" cap="none" strike="noStrike">
                <a:solidFill>
                  <a:srgbClr val="DEFF9A"/>
                </a:solidFill>
                <a:latin typeface="Urbanist"/>
                <a:ea typeface="Urbanist"/>
                <a:cs typeface="Urbanist"/>
                <a:sym typeface="Urbanist"/>
              </a:rPr>
              <a:t>Professionnel</a:t>
            </a:r>
            <a:endParaRPr/>
          </a:p>
        </p:txBody>
      </p:sp>
      <p:sp>
        <p:nvSpPr>
          <p:cNvPr id="94" name="Google Shape;94;p14"/>
          <p:cNvSpPr txBox="1"/>
          <p:nvPr/>
        </p:nvSpPr>
        <p:spPr>
          <a:xfrm>
            <a:off x="809625" y="2376487"/>
            <a:ext cx="504825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DAFFDE"/>
                </a:solidFill>
                <a:latin typeface="Urbanist"/>
                <a:ea typeface="Urbanist"/>
                <a:cs typeface="Urbanist"/>
                <a:sym typeface="Urbanist"/>
              </a:rPr>
              <a:t>Formation :</a:t>
            </a:r>
            <a:r>
              <a:rPr b="0" i="0" lang="en-US" sz="1500" u="none" cap="none" strike="noStrike">
                <a:solidFill>
                  <a:srgbClr val="DAFFDE"/>
                </a:solidFill>
                <a:latin typeface="Urbanist"/>
                <a:ea typeface="Urbanist"/>
                <a:cs typeface="Urbanist"/>
                <a:sym typeface="Urbanist"/>
              </a:rPr>
              <a:t> Étudiant en BTS SIO option SISR (Solutions d'Infrastructure, Systèmes et Réseaux).</a:t>
            </a:r>
            <a:endParaRPr/>
          </a:p>
        </p:txBody>
      </p:sp>
      <p:sp>
        <p:nvSpPr>
          <p:cNvPr id="95" name="Google Shape;95;p14"/>
          <p:cNvSpPr txBox="1"/>
          <p:nvPr/>
        </p:nvSpPr>
        <p:spPr>
          <a:xfrm>
            <a:off x="809625" y="3186112"/>
            <a:ext cx="5048250"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DAFFDE"/>
                </a:solidFill>
                <a:latin typeface="Urbanist"/>
                <a:ea typeface="Urbanist"/>
                <a:cs typeface="Urbanist"/>
                <a:sym typeface="Urbanist"/>
              </a:rPr>
              <a:t>Alternance :</a:t>
            </a:r>
            <a:r>
              <a:rPr b="0" i="0" lang="en-US" sz="1500" u="none" cap="none" strike="noStrike">
                <a:solidFill>
                  <a:srgbClr val="DAFFDE"/>
                </a:solidFill>
                <a:latin typeface="Urbanist"/>
                <a:ea typeface="Urbanist"/>
                <a:cs typeface="Urbanist"/>
                <a:sym typeface="Urbanist"/>
              </a:rPr>
              <a:t> Technicien chez JLB Formatic. Mes missions incluent le dépannage matériel, le support utilisateur et la gestion basique d'infrastructures.</a:t>
            </a:r>
            <a:endParaRPr/>
          </a:p>
        </p:txBody>
      </p:sp>
      <p:sp>
        <p:nvSpPr>
          <p:cNvPr id="96" name="Google Shape;96;p14"/>
          <p:cNvSpPr txBox="1"/>
          <p:nvPr/>
        </p:nvSpPr>
        <p:spPr>
          <a:xfrm>
            <a:off x="809625" y="4281487"/>
            <a:ext cx="5048250"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DAFFDE"/>
                </a:solidFill>
                <a:latin typeface="Urbanist"/>
                <a:ea typeface="Urbanist"/>
                <a:cs typeface="Urbanist"/>
                <a:sym typeface="Urbanist"/>
              </a:rPr>
              <a:t>Objectif :</a:t>
            </a:r>
            <a:r>
              <a:rPr b="0" i="0" lang="en-US" sz="1500" u="none" cap="none" strike="noStrike">
                <a:solidFill>
                  <a:srgbClr val="DAFFDE"/>
                </a:solidFill>
                <a:latin typeface="Urbanist"/>
                <a:ea typeface="Urbanist"/>
                <a:cs typeface="Urbanist"/>
                <a:sym typeface="Urbanist"/>
              </a:rPr>
              <a:t> Devenir Administrateur Systèmes et Réseaux, capable de gérer des parcs informatiques complets tout en assurant un support de qualité aux utilisateurs finaux.</a:t>
            </a:r>
            <a:endParaRPr/>
          </a:p>
        </p:txBody>
      </p:sp>
      <p:pic>
        <p:nvPicPr>
          <p:cNvPr descr="image.png" id="97" name="Google Shape;97;p14"/>
          <p:cNvPicPr preferRelativeResize="0"/>
          <p:nvPr/>
        </p:nvPicPr>
        <p:blipFill rotWithShape="1">
          <a:blip r:embed="rId5">
            <a:alphaModFix/>
          </a:blip>
          <a:srcRect b="0" l="0" r="0" t="0"/>
          <a:stretch/>
        </p:blipFill>
        <p:spPr>
          <a:xfrm>
            <a:off x="6343650" y="1381125"/>
            <a:ext cx="5267325" cy="4267200"/>
          </a:xfrm>
          <a:prstGeom prst="rect">
            <a:avLst/>
          </a:prstGeom>
          <a:noFill/>
          <a:ln>
            <a:noFill/>
          </a:ln>
        </p:spPr>
      </p:pic>
      <p:sp>
        <p:nvSpPr>
          <p:cNvPr id="98" name="Google Shape;98;p14"/>
          <p:cNvSpPr txBox="1"/>
          <p:nvPr/>
        </p:nvSpPr>
        <p:spPr>
          <a:xfrm>
            <a:off x="571500" y="2357437"/>
            <a:ext cx="104775" cy="361950"/>
          </a:xfrm>
          <a:prstGeom prst="rect">
            <a:avLst/>
          </a:prstGeom>
          <a:noFill/>
          <a:ln>
            <a:noFill/>
          </a:ln>
        </p:spPr>
        <p:txBody>
          <a:bodyPr anchorCtr="0" anchor="t" bIns="0" lIns="0" spcFirstLastPara="1" rIns="0" wrap="square" tIns="0">
            <a:spAutoFit/>
          </a:bodyPr>
          <a:lstStyle/>
          <a:p>
            <a:pPr indent="0" lvl="0" marL="0" marR="0" rtl="0" algn="l">
              <a:lnSpc>
                <a:spcPct val="149973"/>
              </a:lnSpc>
              <a:spcBef>
                <a:spcPts val="0"/>
              </a:spcBef>
              <a:spcAft>
                <a:spcPts val="0"/>
              </a:spcAft>
              <a:buNone/>
            </a:pPr>
            <a:r>
              <a:rPr b="0" i="0" lang="en-US" sz="1875" u="none" cap="none" strike="noStrike">
                <a:solidFill>
                  <a:srgbClr val="DEFF9A"/>
                </a:solidFill>
                <a:latin typeface="Urbanist"/>
                <a:ea typeface="Urbanist"/>
                <a:cs typeface="Urbanist"/>
                <a:sym typeface="Urbanist"/>
              </a:rPr>
              <a:t>▹</a:t>
            </a:r>
            <a:endParaRPr/>
          </a:p>
        </p:txBody>
      </p:sp>
      <p:sp>
        <p:nvSpPr>
          <p:cNvPr id="99" name="Google Shape;99;p14"/>
          <p:cNvSpPr txBox="1"/>
          <p:nvPr/>
        </p:nvSpPr>
        <p:spPr>
          <a:xfrm>
            <a:off x="571500" y="3167062"/>
            <a:ext cx="104775" cy="361950"/>
          </a:xfrm>
          <a:prstGeom prst="rect">
            <a:avLst/>
          </a:prstGeom>
          <a:noFill/>
          <a:ln>
            <a:noFill/>
          </a:ln>
        </p:spPr>
        <p:txBody>
          <a:bodyPr anchorCtr="0" anchor="t" bIns="0" lIns="0" spcFirstLastPara="1" rIns="0" wrap="square" tIns="0">
            <a:spAutoFit/>
          </a:bodyPr>
          <a:lstStyle/>
          <a:p>
            <a:pPr indent="0" lvl="0" marL="0" marR="0" rtl="0" algn="l">
              <a:lnSpc>
                <a:spcPct val="149973"/>
              </a:lnSpc>
              <a:spcBef>
                <a:spcPts val="0"/>
              </a:spcBef>
              <a:spcAft>
                <a:spcPts val="0"/>
              </a:spcAft>
              <a:buNone/>
            </a:pPr>
            <a:r>
              <a:rPr b="0" i="0" lang="en-US" sz="1875" u="none" cap="none" strike="noStrike">
                <a:solidFill>
                  <a:srgbClr val="DEFF9A"/>
                </a:solidFill>
                <a:latin typeface="Urbanist"/>
                <a:ea typeface="Urbanist"/>
                <a:cs typeface="Urbanist"/>
                <a:sym typeface="Urbanist"/>
              </a:rPr>
              <a:t>▹</a:t>
            </a:r>
            <a:endParaRPr/>
          </a:p>
        </p:txBody>
      </p:sp>
      <p:sp>
        <p:nvSpPr>
          <p:cNvPr id="100" name="Google Shape;100;p14"/>
          <p:cNvSpPr txBox="1"/>
          <p:nvPr/>
        </p:nvSpPr>
        <p:spPr>
          <a:xfrm>
            <a:off x="571500" y="4262437"/>
            <a:ext cx="104775" cy="361950"/>
          </a:xfrm>
          <a:prstGeom prst="rect">
            <a:avLst/>
          </a:prstGeom>
          <a:noFill/>
          <a:ln>
            <a:noFill/>
          </a:ln>
        </p:spPr>
        <p:txBody>
          <a:bodyPr anchorCtr="0" anchor="t" bIns="0" lIns="0" spcFirstLastPara="1" rIns="0" wrap="square" tIns="0">
            <a:spAutoFit/>
          </a:bodyPr>
          <a:lstStyle/>
          <a:p>
            <a:pPr indent="0" lvl="0" marL="0" marR="0" rtl="0" algn="l">
              <a:lnSpc>
                <a:spcPct val="149973"/>
              </a:lnSpc>
              <a:spcBef>
                <a:spcPts val="0"/>
              </a:spcBef>
              <a:spcAft>
                <a:spcPts val="0"/>
              </a:spcAft>
              <a:buNone/>
            </a:pPr>
            <a:r>
              <a:rPr b="0" i="0" lang="en-US" sz="1875" u="none" cap="none" strike="noStrike">
                <a:solidFill>
                  <a:srgbClr val="DEFF9A"/>
                </a:solidFill>
                <a:latin typeface="Urbanist"/>
                <a:ea typeface="Urbanist"/>
                <a:cs typeface="Urbanist"/>
                <a:sym typeface="Urbanist"/>
              </a:rPr>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4" name="Shape 104"/>
        <p:cNvGrpSpPr/>
        <p:nvPr/>
      </p:nvGrpSpPr>
      <p:grpSpPr>
        <a:xfrm>
          <a:off x="0" y="0"/>
          <a:ext cx="0" cy="0"/>
          <a:chOff x="0" y="0"/>
          <a:chExt cx="0" cy="0"/>
        </a:xfrm>
      </p:grpSpPr>
      <p:pic>
        <p:nvPicPr>
          <p:cNvPr descr="image.png" id="105" name="Google Shape;105;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6" name="Google Shape;106;p15"/>
          <p:cNvPicPr preferRelativeResize="0"/>
          <p:nvPr/>
        </p:nvPicPr>
        <p:blipFill rotWithShape="1">
          <a:blip r:embed="rId4">
            <a:alphaModFix/>
          </a:blip>
          <a:srcRect b="0" l="0" r="0" t="0"/>
          <a:stretch/>
        </p:blipFill>
        <p:spPr>
          <a:xfrm>
            <a:off x="571500" y="1371600"/>
            <a:ext cx="5286375" cy="5010150"/>
          </a:xfrm>
          <a:prstGeom prst="rect">
            <a:avLst/>
          </a:prstGeom>
          <a:noFill/>
          <a:ln>
            <a:noFill/>
          </a:ln>
        </p:spPr>
      </p:pic>
      <p:pic>
        <p:nvPicPr>
          <p:cNvPr descr="image.png" id="107" name="Google Shape;107;p15"/>
          <p:cNvPicPr preferRelativeResize="0"/>
          <p:nvPr/>
        </p:nvPicPr>
        <p:blipFill rotWithShape="1">
          <a:blip r:embed="rId5">
            <a:alphaModFix/>
          </a:blip>
          <a:srcRect b="0" l="0" r="0" t="0"/>
          <a:stretch/>
        </p:blipFill>
        <p:spPr>
          <a:xfrm>
            <a:off x="6334125" y="1371600"/>
            <a:ext cx="5286375" cy="5010150"/>
          </a:xfrm>
          <a:prstGeom prst="rect">
            <a:avLst/>
          </a:prstGeom>
          <a:noFill/>
          <a:ln>
            <a:noFill/>
          </a:ln>
        </p:spPr>
      </p:pic>
      <p:sp>
        <p:nvSpPr>
          <p:cNvPr id="108" name="Google Shape;108;p15"/>
          <p:cNvSpPr txBox="1"/>
          <p:nvPr/>
        </p:nvSpPr>
        <p:spPr>
          <a:xfrm>
            <a:off x="571500" y="47625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75" u="none" cap="none" strike="noStrike">
                <a:solidFill>
                  <a:srgbClr val="F5F5F5"/>
                </a:solidFill>
                <a:latin typeface="Urbanist"/>
                <a:ea typeface="Urbanist"/>
                <a:cs typeface="Urbanist"/>
                <a:sym typeface="Urbanist"/>
              </a:rPr>
              <a:t>Identification des </a:t>
            </a:r>
            <a:r>
              <a:rPr b="1" i="0" lang="en-US" sz="3375" u="none" cap="none" strike="noStrike">
                <a:solidFill>
                  <a:srgbClr val="DEFF9A"/>
                </a:solidFill>
                <a:latin typeface="Urbanist"/>
                <a:ea typeface="Urbanist"/>
                <a:cs typeface="Urbanist"/>
                <a:sym typeface="Urbanist"/>
              </a:rPr>
              <a:t>Besoins</a:t>
            </a:r>
            <a:endParaRPr/>
          </a:p>
        </p:txBody>
      </p:sp>
      <p:sp>
        <p:nvSpPr>
          <p:cNvPr id="109" name="Google Shape;109;p15"/>
          <p:cNvSpPr txBox="1"/>
          <p:nvPr/>
        </p:nvSpPr>
        <p:spPr>
          <a:xfrm>
            <a:off x="849391" y="2714625"/>
            <a:ext cx="4730591"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DEFF9A"/>
                </a:solidFill>
                <a:latin typeface="Urbanist"/>
                <a:ea typeface="Urbanist"/>
                <a:cs typeface="Urbanist"/>
                <a:sym typeface="Urbanist"/>
              </a:rPr>
              <a:t>Besoins Techniques (SISR)</a:t>
            </a:r>
            <a:endParaRPr/>
          </a:p>
        </p:txBody>
      </p:sp>
      <p:sp>
        <p:nvSpPr>
          <p:cNvPr id="110" name="Google Shape;110;p15"/>
          <p:cNvSpPr txBox="1"/>
          <p:nvPr/>
        </p:nvSpPr>
        <p:spPr>
          <a:xfrm>
            <a:off x="962025" y="3181350"/>
            <a:ext cx="4505325" cy="17145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DAFFDE"/>
                </a:solidFill>
                <a:latin typeface="Urbanist"/>
                <a:ea typeface="Urbanist"/>
                <a:cs typeface="Urbanist"/>
                <a:sym typeface="Urbanist"/>
              </a:rPr>
              <a:t>En tant que futur administrateur, j'ai besoin de compétences techniques pures en réseau (routage, commutation) et en système (Windows Server, Linux). Ces compétences sont largement couvertes par le programme du BTS SIO et les certifications éditeurs classiques.</a:t>
            </a:r>
            <a:endParaRPr/>
          </a:p>
        </p:txBody>
      </p:sp>
      <p:sp>
        <p:nvSpPr>
          <p:cNvPr id="111" name="Google Shape;111;p15"/>
          <p:cNvSpPr txBox="1"/>
          <p:nvPr/>
        </p:nvSpPr>
        <p:spPr>
          <a:xfrm>
            <a:off x="6612016" y="2714625"/>
            <a:ext cx="4730591"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DEFF9A"/>
                </a:solidFill>
                <a:latin typeface="Urbanist"/>
                <a:ea typeface="Urbanist"/>
                <a:cs typeface="Urbanist"/>
                <a:sym typeface="Urbanist"/>
              </a:rPr>
              <a:t>Besoins Transversaux (Support)</a:t>
            </a:r>
            <a:endParaRPr/>
          </a:p>
        </p:txBody>
      </p:sp>
      <p:sp>
        <p:nvSpPr>
          <p:cNvPr id="112" name="Google Shape;112;p15"/>
          <p:cNvSpPr txBox="1"/>
          <p:nvPr/>
        </p:nvSpPr>
        <p:spPr>
          <a:xfrm>
            <a:off x="6724650" y="3181350"/>
            <a:ext cx="4505325" cy="17145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DAFFDE"/>
                </a:solidFill>
                <a:latin typeface="Urbanist"/>
                <a:ea typeface="Urbanist"/>
                <a:cs typeface="Urbanist"/>
                <a:sym typeface="Urbanist"/>
              </a:rPr>
              <a:t>Dans mon entreprise, je fais beaucoup de support utilisateur. J'ai constaté un besoin fort d'élargir ma culture numérique globale : comprendre les usages bureautiques, la protection des données au quotidien et être autonome face à des outils inconnus pour mieux assister mes collègues.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6" name="Shape 116"/>
        <p:cNvGrpSpPr/>
        <p:nvPr/>
      </p:nvGrpSpPr>
      <p:grpSpPr>
        <a:xfrm>
          <a:off x="0" y="0"/>
          <a:ext cx="0" cy="0"/>
          <a:chOff x="0" y="0"/>
          <a:chExt cx="0" cy="0"/>
        </a:xfrm>
      </p:grpSpPr>
      <p:pic>
        <p:nvPicPr>
          <p:cNvPr descr="image.png" id="117" name="Google Shape;117;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8" name="Google Shape;118;p16"/>
          <p:cNvPicPr preferRelativeResize="0"/>
          <p:nvPr/>
        </p:nvPicPr>
        <p:blipFill rotWithShape="1">
          <a:blip r:embed="rId4">
            <a:alphaModFix/>
          </a:blip>
          <a:srcRect b="0" l="0" r="0" t="0"/>
          <a:stretch/>
        </p:blipFill>
        <p:spPr>
          <a:xfrm>
            <a:off x="571500" y="1371600"/>
            <a:ext cx="3492549" cy="2095500"/>
          </a:xfrm>
          <a:prstGeom prst="rect">
            <a:avLst/>
          </a:prstGeom>
          <a:noFill/>
          <a:ln>
            <a:noFill/>
          </a:ln>
        </p:spPr>
      </p:pic>
      <p:pic>
        <p:nvPicPr>
          <p:cNvPr descr="image.png" id="119" name="Google Shape;119;p16"/>
          <p:cNvPicPr preferRelativeResize="0"/>
          <p:nvPr/>
        </p:nvPicPr>
        <p:blipFill rotWithShape="1">
          <a:blip r:embed="rId5">
            <a:alphaModFix/>
          </a:blip>
          <a:srcRect b="0" l="0" r="0" t="0"/>
          <a:stretch/>
        </p:blipFill>
        <p:spPr>
          <a:xfrm>
            <a:off x="4349799" y="1371600"/>
            <a:ext cx="3492549" cy="2095500"/>
          </a:xfrm>
          <a:prstGeom prst="rect">
            <a:avLst/>
          </a:prstGeom>
          <a:noFill/>
          <a:ln>
            <a:noFill/>
          </a:ln>
        </p:spPr>
      </p:pic>
      <p:pic>
        <p:nvPicPr>
          <p:cNvPr descr="image.png" id="120" name="Google Shape;120;p16"/>
          <p:cNvPicPr preferRelativeResize="0"/>
          <p:nvPr/>
        </p:nvPicPr>
        <p:blipFill rotWithShape="1">
          <a:blip r:embed="rId6">
            <a:alphaModFix/>
          </a:blip>
          <a:srcRect b="0" l="0" r="0" t="0"/>
          <a:stretch/>
        </p:blipFill>
        <p:spPr>
          <a:xfrm>
            <a:off x="8128099" y="1371600"/>
            <a:ext cx="3492549" cy="2095500"/>
          </a:xfrm>
          <a:prstGeom prst="rect">
            <a:avLst/>
          </a:prstGeom>
          <a:noFill/>
          <a:ln>
            <a:noFill/>
          </a:ln>
        </p:spPr>
      </p:pic>
      <p:sp>
        <p:nvSpPr>
          <p:cNvPr id="121" name="Google Shape;121;p16"/>
          <p:cNvSpPr txBox="1"/>
          <p:nvPr/>
        </p:nvSpPr>
        <p:spPr>
          <a:xfrm>
            <a:off x="571500" y="47625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75" u="none" cap="none" strike="noStrike">
                <a:solidFill>
                  <a:srgbClr val="F5F5F5"/>
                </a:solidFill>
                <a:latin typeface="Urbanist"/>
                <a:ea typeface="Urbanist"/>
                <a:cs typeface="Urbanist"/>
                <a:sym typeface="Urbanist"/>
              </a:rPr>
              <a:t>Panorama des </a:t>
            </a:r>
            <a:r>
              <a:rPr b="1" i="0" lang="en-US" sz="3375" u="none" cap="none" strike="noStrike">
                <a:solidFill>
                  <a:srgbClr val="DEFF9A"/>
                </a:solidFill>
                <a:latin typeface="Urbanist"/>
                <a:ea typeface="Urbanist"/>
                <a:cs typeface="Urbanist"/>
                <a:sym typeface="Urbanist"/>
              </a:rPr>
              <a:t>Certifications</a:t>
            </a:r>
            <a:endParaRPr/>
          </a:p>
        </p:txBody>
      </p:sp>
      <p:sp>
        <p:nvSpPr>
          <p:cNvPr id="122" name="Google Shape;122;p16"/>
          <p:cNvSpPr txBox="1"/>
          <p:nvPr/>
        </p:nvSpPr>
        <p:spPr>
          <a:xfrm>
            <a:off x="484186" y="3657600"/>
            <a:ext cx="3667177"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F5F5F5"/>
                </a:solidFill>
                <a:latin typeface="Urbanist"/>
                <a:ea typeface="Urbanist"/>
                <a:cs typeface="Urbanist"/>
                <a:sym typeface="Urbanist"/>
              </a:rPr>
              <a:t>Certifications Réseaux</a:t>
            </a:r>
            <a:endParaRPr/>
          </a:p>
        </p:txBody>
      </p:sp>
      <p:sp>
        <p:nvSpPr>
          <p:cNvPr id="123" name="Google Shape;123;p16"/>
          <p:cNvSpPr txBox="1"/>
          <p:nvPr/>
        </p:nvSpPr>
        <p:spPr>
          <a:xfrm>
            <a:off x="571500" y="4219575"/>
            <a:ext cx="3492549" cy="5143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350" u="none" cap="none" strike="noStrike">
                <a:solidFill>
                  <a:srgbClr val="DAFFDE"/>
                </a:solidFill>
                <a:latin typeface="Urbanist"/>
                <a:ea typeface="Urbanist"/>
                <a:cs typeface="Urbanist"/>
                <a:sym typeface="Urbanist"/>
              </a:rPr>
              <a:t>Ex: Cisco CCNA. Idéales pour l'expertise pure en infrastructure et routage.</a:t>
            </a:r>
            <a:endParaRPr/>
          </a:p>
        </p:txBody>
      </p:sp>
      <p:sp>
        <p:nvSpPr>
          <p:cNvPr id="124" name="Google Shape;124;p16"/>
          <p:cNvSpPr txBox="1"/>
          <p:nvPr/>
        </p:nvSpPr>
        <p:spPr>
          <a:xfrm>
            <a:off x="4262485" y="3657600"/>
            <a:ext cx="3667177" cy="647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F5F5F5"/>
                </a:solidFill>
                <a:latin typeface="Urbanist"/>
                <a:ea typeface="Urbanist"/>
                <a:cs typeface="Urbanist"/>
                <a:sym typeface="Urbanist"/>
              </a:rPr>
              <a:t>Certifications Systèmes/Cloud</a:t>
            </a:r>
            <a:endParaRPr/>
          </a:p>
        </p:txBody>
      </p:sp>
      <p:sp>
        <p:nvSpPr>
          <p:cNvPr id="125" name="Google Shape;125;p16"/>
          <p:cNvSpPr txBox="1"/>
          <p:nvPr/>
        </p:nvSpPr>
        <p:spPr>
          <a:xfrm>
            <a:off x="4349799" y="4543425"/>
            <a:ext cx="3492549" cy="5143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350" u="none" cap="none" strike="noStrike">
                <a:solidFill>
                  <a:srgbClr val="DAFFDE"/>
                </a:solidFill>
                <a:latin typeface="Urbanist"/>
                <a:ea typeface="Urbanist"/>
                <a:cs typeface="Urbanist"/>
                <a:sym typeface="Urbanist"/>
              </a:rPr>
              <a:t>Ex: Microsoft Azure ou AWS. Parfaites pour la gestion de serveurs virtualisés.</a:t>
            </a:r>
            <a:endParaRPr/>
          </a:p>
        </p:txBody>
      </p:sp>
      <p:sp>
        <p:nvSpPr>
          <p:cNvPr id="126" name="Google Shape;126;p16"/>
          <p:cNvSpPr txBox="1"/>
          <p:nvPr/>
        </p:nvSpPr>
        <p:spPr>
          <a:xfrm>
            <a:off x="8040785" y="3657600"/>
            <a:ext cx="3667177"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F5F5F5"/>
                </a:solidFill>
                <a:latin typeface="Urbanist"/>
                <a:ea typeface="Urbanist"/>
                <a:cs typeface="Urbanist"/>
                <a:sym typeface="Urbanist"/>
              </a:rPr>
              <a:t>Certifications Généralistes</a:t>
            </a:r>
            <a:endParaRPr/>
          </a:p>
        </p:txBody>
      </p:sp>
      <p:sp>
        <p:nvSpPr>
          <p:cNvPr id="127" name="Google Shape;127;p16"/>
          <p:cNvSpPr txBox="1"/>
          <p:nvPr/>
        </p:nvSpPr>
        <p:spPr>
          <a:xfrm>
            <a:off x="8128099" y="4219575"/>
            <a:ext cx="3492549" cy="5143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350" u="none" cap="none" strike="noStrike">
                <a:solidFill>
                  <a:srgbClr val="DAFFDE"/>
                </a:solidFill>
                <a:latin typeface="Urbanist"/>
                <a:ea typeface="Urbanist"/>
                <a:cs typeface="Urbanist"/>
                <a:sym typeface="Urbanist"/>
              </a:rPr>
              <a:t>Ex: PIX. Axées sur la maîtrise de l'environnement numérique et l'autonomie.</a:t>
            </a:r>
            <a:endParaRPr/>
          </a:p>
        </p:txBody>
      </p:sp>
      <p:pic>
        <p:nvPicPr>
          <p:cNvPr descr="image.png" id="128" name="Google Shape;128;p16"/>
          <p:cNvPicPr preferRelativeResize="0"/>
          <p:nvPr/>
        </p:nvPicPr>
        <p:blipFill rotWithShape="1">
          <a:blip r:embed="rId7">
            <a:alphaModFix/>
          </a:blip>
          <a:srcRect b="0" l="0" r="0" t="0"/>
          <a:stretch/>
        </p:blipFill>
        <p:spPr>
          <a:xfrm>
            <a:off x="581025" y="1381125"/>
            <a:ext cx="3473499" cy="2076450"/>
          </a:xfrm>
          <a:prstGeom prst="rect">
            <a:avLst/>
          </a:prstGeom>
          <a:noFill/>
          <a:ln>
            <a:noFill/>
          </a:ln>
        </p:spPr>
      </p:pic>
      <p:pic>
        <p:nvPicPr>
          <p:cNvPr descr="image.png" id="129" name="Google Shape;129;p16"/>
          <p:cNvPicPr preferRelativeResize="0"/>
          <p:nvPr/>
        </p:nvPicPr>
        <p:blipFill rotWithShape="1">
          <a:blip r:embed="rId8">
            <a:alphaModFix/>
          </a:blip>
          <a:srcRect b="0" l="0" r="0" t="0"/>
          <a:stretch/>
        </p:blipFill>
        <p:spPr>
          <a:xfrm>
            <a:off x="4359324" y="1381125"/>
            <a:ext cx="3473499" cy="2076450"/>
          </a:xfrm>
          <a:prstGeom prst="rect">
            <a:avLst/>
          </a:prstGeom>
          <a:noFill/>
          <a:ln>
            <a:noFill/>
          </a:ln>
        </p:spPr>
      </p:pic>
      <p:pic>
        <p:nvPicPr>
          <p:cNvPr descr="image.png" id="130" name="Google Shape;130;p16"/>
          <p:cNvPicPr preferRelativeResize="0"/>
          <p:nvPr/>
        </p:nvPicPr>
        <p:blipFill rotWithShape="1">
          <a:blip r:embed="rId9">
            <a:alphaModFix/>
          </a:blip>
          <a:srcRect b="0" l="0" r="0" t="0"/>
          <a:stretch/>
        </p:blipFill>
        <p:spPr>
          <a:xfrm>
            <a:off x="8137624" y="1381125"/>
            <a:ext cx="3473499" cy="2076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34" name="Shape 134"/>
        <p:cNvGrpSpPr/>
        <p:nvPr/>
      </p:nvGrpSpPr>
      <p:grpSpPr>
        <a:xfrm>
          <a:off x="0" y="0"/>
          <a:ext cx="0" cy="0"/>
          <a:chOff x="0" y="0"/>
          <a:chExt cx="0" cy="0"/>
        </a:xfrm>
      </p:grpSpPr>
      <p:pic>
        <p:nvPicPr>
          <p:cNvPr descr="image.png" id="135" name="Google Shape;135;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6" name="Google Shape;136;p17"/>
          <p:cNvSpPr/>
          <p:nvPr/>
        </p:nvSpPr>
        <p:spPr>
          <a:xfrm>
            <a:off x="5619750" y="2533650"/>
            <a:ext cx="952500" cy="47625"/>
          </a:xfrm>
          <a:prstGeom prst="rect">
            <a:avLst/>
          </a:prstGeom>
          <a:solidFill>
            <a:srgbClr val="DEFF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17"/>
          <p:cNvSpPr txBox="1"/>
          <p:nvPr/>
        </p:nvSpPr>
        <p:spPr>
          <a:xfrm>
            <a:off x="2080498" y="2867025"/>
            <a:ext cx="8031003" cy="8096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5250" u="none" cap="none" strike="noStrike">
                <a:solidFill>
                  <a:srgbClr val="F5F5F5"/>
                </a:solidFill>
                <a:latin typeface="Urbanist"/>
                <a:ea typeface="Urbanist"/>
                <a:cs typeface="Urbanist"/>
                <a:sym typeface="Urbanist"/>
              </a:rPr>
              <a:t>Pourquoi le choix de </a:t>
            </a:r>
            <a:r>
              <a:rPr b="1" i="0" lang="en-US" sz="5250" u="none" cap="none" strike="noStrike">
                <a:solidFill>
                  <a:srgbClr val="DEFF9A"/>
                </a:solidFill>
                <a:latin typeface="Urbanist"/>
                <a:ea typeface="Urbanist"/>
                <a:cs typeface="Urbanist"/>
                <a:sym typeface="Urbanist"/>
              </a:rPr>
              <a:t>PIX</a:t>
            </a:r>
            <a:r>
              <a:rPr b="1" i="0" lang="en-US" sz="5250" u="none" cap="none" strike="noStrike">
                <a:solidFill>
                  <a:srgbClr val="F5F5F5"/>
                </a:solidFill>
                <a:latin typeface="Urbanist"/>
                <a:ea typeface="Urbanist"/>
                <a:cs typeface="Urbanist"/>
                <a:sym typeface="Urbanist"/>
              </a:rPr>
              <a:t> ?</a:t>
            </a:r>
            <a:endParaRPr/>
          </a:p>
        </p:txBody>
      </p:sp>
      <p:sp>
        <p:nvSpPr>
          <p:cNvPr id="138" name="Google Shape;138;p17"/>
          <p:cNvSpPr txBox="1"/>
          <p:nvPr/>
        </p:nvSpPr>
        <p:spPr>
          <a:xfrm>
            <a:off x="2286000" y="3867150"/>
            <a:ext cx="7620000" cy="7503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950" u="none" cap="none" strike="noStrike">
                <a:solidFill>
                  <a:srgbClr val="DAFFDE"/>
                </a:solidFill>
                <a:latin typeface="Urbanist"/>
                <a:ea typeface="Urbanist"/>
                <a:cs typeface="Urbanist"/>
                <a:sym typeface="Urbanist"/>
              </a:rPr>
              <a:t>Une certification généraliste au service de l'expertise technique et du </a:t>
            </a:r>
            <a:r>
              <a:rPr b="1" i="0" lang="en-US" sz="1950" u="none" cap="none" strike="noStrike">
                <a:solidFill>
                  <a:srgbClr val="DAFFDE"/>
                </a:solidFill>
                <a:latin typeface="Urbanist"/>
                <a:ea typeface="Urbanist"/>
                <a:cs typeface="Urbanist"/>
                <a:sym typeface="Urbanist"/>
              </a:rPr>
              <a:t>support utilisateur</a:t>
            </a:r>
            <a:r>
              <a:rPr b="0" i="0" lang="en-US" sz="1950" u="none" cap="none" strike="noStrike">
                <a:solidFill>
                  <a:srgbClr val="DAFFDE"/>
                </a:solidFill>
                <a:latin typeface="Urbanist"/>
                <a:ea typeface="Urbanist"/>
                <a:cs typeface="Urbanist"/>
                <a:sym typeface="Urbanist"/>
              </a:rPr>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42" name="Shape 142"/>
        <p:cNvGrpSpPr/>
        <p:nvPr/>
      </p:nvGrpSpPr>
      <p:grpSpPr>
        <a:xfrm>
          <a:off x="0" y="0"/>
          <a:ext cx="0" cy="0"/>
          <a:chOff x="0" y="0"/>
          <a:chExt cx="0" cy="0"/>
        </a:xfrm>
      </p:grpSpPr>
      <p:pic>
        <p:nvPicPr>
          <p:cNvPr descr="image.png" id="143" name="Google Shape;143;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4" name="Google Shape;144;p18"/>
          <p:cNvPicPr preferRelativeResize="0"/>
          <p:nvPr/>
        </p:nvPicPr>
        <p:blipFill rotWithShape="1">
          <a:blip r:embed="rId4">
            <a:alphaModFix/>
          </a:blip>
          <a:srcRect b="0" l="0" r="0" t="0"/>
          <a:stretch/>
        </p:blipFill>
        <p:spPr>
          <a:xfrm>
            <a:off x="571500" y="1371600"/>
            <a:ext cx="3492549" cy="5010150"/>
          </a:xfrm>
          <a:prstGeom prst="rect">
            <a:avLst/>
          </a:prstGeom>
          <a:noFill/>
          <a:ln>
            <a:noFill/>
          </a:ln>
        </p:spPr>
      </p:pic>
      <p:pic>
        <p:nvPicPr>
          <p:cNvPr descr="image.png" id="145" name="Google Shape;145;p18"/>
          <p:cNvPicPr preferRelativeResize="0"/>
          <p:nvPr/>
        </p:nvPicPr>
        <p:blipFill rotWithShape="1">
          <a:blip r:embed="rId5">
            <a:alphaModFix/>
          </a:blip>
          <a:srcRect b="0" l="0" r="0" t="0"/>
          <a:stretch/>
        </p:blipFill>
        <p:spPr>
          <a:xfrm>
            <a:off x="4349799" y="1371600"/>
            <a:ext cx="3492549" cy="5010150"/>
          </a:xfrm>
          <a:prstGeom prst="rect">
            <a:avLst/>
          </a:prstGeom>
          <a:noFill/>
          <a:ln>
            <a:noFill/>
          </a:ln>
        </p:spPr>
      </p:pic>
      <p:pic>
        <p:nvPicPr>
          <p:cNvPr descr="image.png" id="146" name="Google Shape;146;p18"/>
          <p:cNvPicPr preferRelativeResize="0"/>
          <p:nvPr/>
        </p:nvPicPr>
        <p:blipFill rotWithShape="1">
          <a:blip r:embed="rId6">
            <a:alphaModFix/>
          </a:blip>
          <a:srcRect b="0" l="0" r="0" t="0"/>
          <a:stretch/>
        </p:blipFill>
        <p:spPr>
          <a:xfrm>
            <a:off x="8128099" y="1371600"/>
            <a:ext cx="3492549" cy="5010150"/>
          </a:xfrm>
          <a:prstGeom prst="rect">
            <a:avLst/>
          </a:prstGeom>
          <a:noFill/>
          <a:ln>
            <a:noFill/>
          </a:ln>
        </p:spPr>
      </p:pic>
      <p:sp>
        <p:nvSpPr>
          <p:cNvPr id="147" name="Google Shape;147;p18"/>
          <p:cNvSpPr txBox="1"/>
          <p:nvPr/>
        </p:nvSpPr>
        <p:spPr>
          <a:xfrm>
            <a:off x="571500" y="47625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75" u="none" cap="none" strike="noStrike">
                <a:solidFill>
                  <a:srgbClr val="F5F5F5"/>
                </a:solidFill>
                <a:latin typeface="Urbanist"/>
                <a:ea typeface="Urbanist"/>
                <a:cs typeface="Urbanist"/>
                <a:sym typeface="Urbanist"/>
              </a:rPr>
              <a:t>Les Atouts de PIX pour un </a:t>
            </a:r>
            <a:r>
              <a:rPr b="1" i="0" lang="en-US" sz="3375" u="none" cap="none" strike="noStrike">
                <a:solidFill>
                  <a:srgbClr val="DEFF9A"/>
                </a:solidFill>
                <a:latin typeface="Urbanist"/>
                <a:ea typeface="Urbanist"/>
                <a:cs typeface="Urbanist"/>
                <a:sym typeface="Urbanist"/>
              </a:rPr>
              <a:t>SIO</a:t>
            </a:r>
            <a:endParaRPr/>
          </a:p>
        </p:txBody>
      </p:sp>
      <p:pic>
        <p:nvPicPr>
          <p:cNvPr descr="image.png" id="148" name="Google Shape;148;p18"/>
          <p:cNvPicPr preferRelativeResize="0"/>
          <p:nvPr/>
        </p:nvPicPr>
        <p:blipFill rotWithShape="1">
          <a:blip r:embed="rId7">
            <a:alphaModFix/>
          </a:blip>
          <a:srcRect b="0" l="0" r="0" t="0"/>
          <a:stretch/>
        </p:blipFill>
        <p:spPr>
          <a:xfrm>
            <a:off x="1936700" y="2214562"/>
            <a:ext cx="762000" cy="762000"/>
          </a:xfrm>
          <a:prstGeom prst="rect">
            <a:avLst/>
          </a:prstGeom>
          <a:noFill/>
          <a:ln>
            <a:noFill/>
          </a:ln>
        </p:spPr>
      </p:pic>
      <p:sp>
        <p:nvSpPr>
          <p:cNvPr id="149" name="Google Shape;149;p18"/>
          <p:cNvSpPr txBox="1"/>
          <p:nvPr/>
        </p:nvSpPr>
        <p:spPr>
          <a:xfrm>
            <a:off x="1122551" y="3214687"/>
            <a:ext cx="2390298"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F5F5F5"/>
                </a:solidFill>
                <a:latin typeface="Urbanist"/>
                <a:ea typeface="Urbanist"/>
                <a:cs typeface="Urbanist"/>
                <a:sym typeface="Urbanist"/>
              </a:rPr>
              <a:t>Support Utilisateur</a:t>
            </a:r>
            <a:endParaRPr/>
          </a:p>
        </p:txBody>
      </p:sp>
      <p:sp>
        <p:nvSpPr>
          <p:cNvPr id="150" name="Google Shape;150;p18"/>
          <p:cNvSpPr txBox="1"/>
          <p:nvPr/>
        </p:nvSpPr>
        <p:spPr>
          <a:xfrm>
            <a:off x="866775" y="3681412"/>
            <a:ext cx="2901999" cy="17145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DAFFDE"/>
                </a:solidFill>
                <a:latin typeface="Urbanist"/>
                <a:ea typeface="Urbanist"/>
                <a:cs typeface="Urbanist"/>
                <a:sym typeface="Urbanist"/>
              </a:rPr>
              <a:t>Comprendre précisément les usages quotidiens des collaborateurs (bureautique, web) permet de diagnostiquer et de résoudre leurs problèmes beaucoup plus rapidement.</a:t>
            </a:r>
            <a:endParaRPr/>
          </a:p>
        </p:txBody>
      </p:sp>
      <p:pic>
        <p:nvPicPr>
          <p:cNvPr descr="image.png" id="151" name="Google Shape;151;p18"/>
          <p:cNvPicPr preferRelativeResize="0"/>
          <p:nvPr/>
        </p:nvPicPr>
        <p:blipFill rotWithShape="1">
          <a:blip r:embed="rId8">
            <a:alphaModFix/>
          </a:blip>
          <a:srcRect b="0" l="0" r="0" t="0"/>
          <a:stretch/>
        </p:blipFill>
        <p:spPr>
          <a:xfrm>
            <a:off x="5715000" y="2195512"/>
            <a:ext cx="762000" cy="762000"/>
          </a:xfrm>
          <a:prstGeom prst="rect">
            <a:avLst/>
          </a:prstGeom>
          <a:noFill/>
          <a:ln>
            <a:noFill/>
          </a:ln>
        </p:spPr>
      </p:pic>
      <p:sp>
        <p:nvSpPr>
          <p:cNvPr id="152" name="Google Shape;152;p18"/>
          <p:cNvSpPr txBox="1"/>
          <p:nvPr/>
        </p:nvSpPr>
        <p:spPr>
          <a:xfrm>
            <a:off x="4572524" y="3195637"/>
            <a:ext cx="3047099" cy="647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F5F5F5"/>
                </a:solidFill>
                <a:latin typeface="Urbanist"/>
                <a:ea typeface="Urbanist"/>
                <a:cs typeface="Urbanist"/>
                <a:sym typeface="Urbanist"/>
              </a:rPr>
              <a:t>Autonomie &amp; Recherche</a:t>
            </a:r>
            <a:endParaRPr/>
          </a:p>
        </p:txBody>
      </p:sp>
      <p:sp>
        <p:nvSpPr>
          <p:cNvPr id="153" name="Google Shape;153;p18"/>
          <p:cNvSpPr txBox="1"/>
          <p:nvPr/>
        </p:nvSpPr>
        <p:spPr>
          <a:xfrm>
            <a:off x="4645074" y="3986212"/>
            <a:ext cx="2901999" cy="14287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DAFFDE"/>
                </a:solidFill>
                <a:latin typeface="Urbanist"/>
                <a:ea typeface="Urbanist"/>
                <a:cs typeface="Urbanist"/>
                <a:sym typeface="Urbanist"/>
              </a:rPr>
              <a:t>Le métier de technicien exige de savoir rechercher l'information technique de manière fiable pour résoudre des bugs ou déployer de nouveaux outils.</a:t>
            </a:r>
            <a:endParaRPr/>
          </a:p>
        </p:txBody>
      </p:sp>
      <p:pic>
        <p:nvPicPr>
          <p:cNvPr descr="image.png" id="154" name="Google Shape;154;p18"/>
          <p:cNvPicPr preferRelativeResize="0"/>
          <p:nvPr/>
        </p:nvPicPr>
        <p:blipFill rotWithShape="1">
          <a:blip r:embed="rId9">
            <a:alphaModFix/>
          </a:blip>
          <a:srcRect b="0" l="0" r="0" t="0"/>
          <a:stretch/>
        </p:blipFill>
        <p:spPr>
          <a:xfrm>
            <a:off x="9493299" y="2214562"/>
            <a:ext cx="762000" cy="762000"/>
          </a:xfrm>
          <a:prstGeom prst="rect">
            <a:avLst/>
          </a:prstGeom>
          <a:noFill/>
          <a:ln>
            <a:noFill/>
          </a:ln>
        </p:spPr>
      </p:pic>
      <p:sp>
        <p:nvSpPr>
          <p:cNvPr id="155" name="Google Shape;155;p18"/>
          <p:cNvSpPr txBox="1"/>
          <p:nvPr/>
        </p:nvSpPr>
        <p:spPr>
          <a:xfrm>
            <a:off x="8394114" y="3214687"/>
            <a:ext cx="2960370"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F5F5F5"/>
                </a:solidFill>
                <a:latin typeface="Urbanist"/>
                <a:ea typeface="Urbanist"/>
                <a:cs typeface="Urbanist"/>
                <a:sym typeface="Urbanist"/>
              </a:rPr>
              <a:t>Sensibilisation Sécurité</a:t>
            </a:r>
            <a:endParaRPr/>
          </a:p>
        </p:txBody>
      </p:sp>
      <p:sp>
        <p:nvSpPr>
          <p:cNvPr id="156" name="Google Shape;156;p18"/>
          <p:cNvSpPr txBox="1"/>
          <p:nvPr/>
        </p:nvSpPr>
        <p:spPr>
          <a:xfrm>
            <a:off x="8423374" y="3681412"/>
            <a:ext cx="2901999" cy="17145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DAFFDE"/>
                </a:solidFill>
                <a:latin typeface="Urbanist"/>
                <a:ea typeface="Urbanist"/>
                <a:cs typeface="Urbanist"/>
                <a:sym typeface="Urbanist"/>
              </a:rPr>
              <a:t>La cybersécurité n'est pas qu'une affaire de pare-feu. PIX valide les bonnes pratiques applicables à tous (phishing, mots de passe) que je dois inculquer aux utilisateurs.</a:t>
            </a:r>
            <a:endParaRPr/>
          </a:p>
        </p:txBody>
      </p:sp>
      <p:pic>
        <p:nvPicPr>
          <p:cNvPr descr="image.png" id="157" name="Google Shape;157;p18"/>
          <p:cNvPicPr preferRelativeResize="0"/>
          <p:nvPr/>
        </p:nvPicPr>
        <p:blipFill rotWithShape="1">
          <a:blip r:embed="rId10">
            <a:alphaModFix/>
          </a:blip>
          <a:srcRect b="0" l="0" r="0" t="0"/>
          <a:stretch/>
        </p:blipFill>
        <p:spPr>
          <a:xfrm>
            <a:off x="2151012" y="2428875"/>
            <a:ext cx="333375" cy="333375"/>
          </a:xfrm>
          <a:prstGeom prst="rect">
            <a:avLst/>
          </a:prstGeom>
          <a:noFill/>
          <a:ln>
            <a:noFill/>
          </a:ln>
        </p:spPr>
      </p:pic>
      <p:pic>
        <p:nvPicPr>
          <p:cNvPr descr="image.png" id="158" name="Google Shape;158;p18"/>
          <p:cNvPicPr preferRelativeResize="0"/>
          <p:nvPr/>
        </p:nvPicPr>
        <p:blipFill rotWithShape="1">
          <a:blip r:embed="rId11">
            <a:alphaModFix/>
          </a:blip>
          <a:srcRect b="0" l="0" r="0" t="0"/>
          <a:stretch/>
        </p:blipFill>
        <p:spPr>
          <a:xfrm>
            <a:off x="5929312" y="2409825"/>
            <a:ext cx="333375" cy="333375"/>
          </a:xfrm>
          <a:prstGeom prst="rect">
            <a:avLst/>
          </a:prstGeom>
          <a:noFill/>
          <a:ln>
            <a:noFill/>
          </a:ln>
        </p:spPr>
      </p:pic>
      <p:pic>
        <p:nvPicPr>
          <p:cNvPr descr="image.png" id="159" name="Google Shape;159;p18"/>
          <p:cNvPicPr preferRelativeResize="0"/>
          <p:nvPr/>
        </p:nvPicPr>
        <p:blipFill rotWithShape="1">
          <a:blip r:embed="rId12">
            <a:alphaModFix/>
          </a:blip>
          <a:srcRect b="0" l="0" r="0" t="0"/>
          <a:stretch/>
        </p:blipFill>
        <p:spPr>
          <a:xfrm>
            <a:off x="9707612" y="2428875"/>
            <a:ext cx="333375" cy="3333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63" name="Shape 163"/>
        <p:cNvGrpSpPr/>
        <p:nvPr/>
      </p:nvGrpSpPr>
      <p:grpSpPr>
        <a:xfrm>
          <a:off x="0" y="0"/>
          <a:ext cx="0" cy="0"/>
          <a:chOff x="0" y="0"/>
          <a:chExt cx="0" cy="0"/>
        </a:xfrm>
      </p:grpSpPr>
      <p:pic>
        <p:nvPicPr>
          <p:cNvPr descr="image.png" id="164" name="Google Shape;164;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5" name="Google Shape;165;p19"/>
          <p:cNvSpPr txBox="1"/>
          <p:nvPr/>
        </p:nvSpPr>
        <p:spPr>
          <a:xfrm>
            <a:off x="571500" y="47625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75" u="none" cap="none" strike="noStrike">
                <a:solidFill>
                  <a:srgbClr val="F5F5F5"/>
                </a:solidFill>
                <a:latin typeface="Urbanist"/>
                <a:ea typeface="Urbanist"/>
                <a:cs typeface="Urbanist"/>
                <a:sym typeface="Urbanist"/>
              </a:rPr>
              <a:t>Mes Résultats à la </a:t>
            </a:r>
            <a:r>
              <a:rPr b="1" i="0" lang="en-US" sz="3375" u="none" cap="none" strike="noStrike">
                <a:solidFill>
                  <a:srgbClr val="DEFF9A"/>
                </a:solidFill>
                <a:latin typeface="Urbanist"/>
                <a:ea typeface="Urbanist"/>
                <a:cs typeface="Urbanist"/>
                <a:sym typeface="Urbanist"/>
              </a:rPr>
              <a:t>Certification</a:t>
            </a:r>
            <a:endParaRPr/>
          </a:p>
        </p:txBody>
      </p:sp>
      <p:sp>
        <p:nvSpPr>
          <p:cNvPr id="166" name="Google Shape;166;p19"/>
          <p:cNvSpPr txBox="1"/>
          <p:nvPr/>
        </p:nvSpPr>
        <p:spPr>
          <a:xfrm>
            <a:off x="571500" y="2900362"/>
            <a:ext cx="4419600" cy="142875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250" u="none" cap="none" strike="noStrike">
                <a:solidFill>
                  <a:srgbClr val="DEFF9A"/>
                </a:solidFill>
                <a:latin typeface="Urbanist"/>
                <a:ea typeface="Urbanist"/>
                <a:cs typeface="Urbanist"/>
                <a:sym typeface="Urbanist"/>
              </a:rPr>
              <a:t>544</a:t>
            </a:r>
            <a:endParaRPr/>
          </a:p>
        </p:txBody>
      </p:sp>
      <p:sp>
        <p:nvSpPr>
          <p:cNvPr id="167" name="Google Shape;167;p19"/>
          <p:cNvSpPr txBox="1"/>
          <p:nvPr/>
        </p:nvSpPr>
        <p:spPr>
          <a:xfrm>
            <a:off x="571500" y="4424362"/>
            <a:ext cx="4419600" cy="42862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2250" u="none" cap="none" strike="noStrike">
                <a:solidFill>
                  <a:srgbClr val="F5F5F5"/>
                </a:solidFill>
                <a:latin typeface="Urbanist"/>
                <a:ea typeface="Urbanist"/>
                <a:cs typeface="Urbanist"/>
                <a:sym typeface="Urbanist"/>
              </a:rPr>
              <a:t>PIX - Niveau Avancé 1</a:t>
            </a:r>
            <a:endParaRPr/>
          </a:p>
        </p:txBody>
      </p:sp>
      <p:sp>
        <p:nvSpPr>
          <p:cNvPr id="168" name="Google Shape;168;p19"/>
          <p:cNvSpPr txBox="1"/>
          <p:nvPr/>
        </p:nvSpPr>
        <p:spPr>
          <a:xfrm>
            <a:off x="5467350" y="2928937"/>
            <a:ext cx="6460807"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5F5F5"/>
                </a:solidFill>
                <a:latin typeface="Urbanist"/>
                <a:ea typeface="Urbanist"/>
                <a:cs typeface="Urbanist"/>
                <a:sym typeface="Urbanist"/>
              </a:rPr>
              <a:t>Une maîtrise officiellement reconnue</a:t>
            </a:r>
            <a:endParaRPr/>
          </a:p>
        </p:txBody>
      </p:sp>
      <p:sp>
        <p:nvSpPr>
          <p:cNvPr id="169" name="Google Shape;169;p19"/>
          <p:cNvSpPr txBox="1"/>
          <p:nvPr/>
        </p:nvSpPr>
        <p:spPr>
          <a:xfrm>
            <a:off x="5467350" y="3395662"/>
            <a:ext cx="615315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DAFFDE"/>
                </a:solidFill>
                <a:latin typeface="Urbanist"/>
                <a:ea typeface="Urbanist"/>
                <a:cs typeface="Urbanist"/>
                <a:sym typeface="Urbanist"/>
              </a:rPr>
              <a:t>Ce score atteste de mes pratiques numériques avancées et de ma disposition à faire face, en totale autonomie, à des situations nouvelles.</a:t>
            </a:r>
            <a:endParaRPr/>
          </a:p>
        </p:txBody>
      </p:sp>
      <p:sp>
        <p:nvSpPr>
          <p:cNvPr id="170" name="Google Shape;170;p19"/>
          <p:cNvSpPr txBox="1"/>
          <p:nvPr/>
        </p:nvSpPr>
        <p:spPr>
          <a:xfrm>
            <a:off x="5467350" y="4110037"/>
            <a:ext cx="615315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DAFFDE"/>
                </a:solidFill>
                <a:latin typeface="Urbanist"/>
                <a:ea typeface="Urbanist"/>
                <a:cs typeface="Urbanist"/>
                <a:sym typeface="Urbanist"/>
              </a:rPr>
              <a:t>Passage de la certification réalisé au sein du centre agréé GRETA Pays de la Loire avec un haut niveau d'exigence.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74" name="Shape 174"/>
        <p:cNvGrpSpPr/>
        <p:nvPr/>
      </p:nvGrpSpPr>
      <p:grpSpPr>
        <a:xfrm>
          <a:off x="0" y="0"/>
          <a:ext cx="0" cy="0"/>
          <a:chOff x="0" y="0"/>
          <a:chExt cx="0" cy="0"/>
        </a:xfrm>
      </p:grpSpPr>
      <p:pic>
        <p:nvPicPr>
          <p:cNvPr descr="image.png" id="175" name="Google Shape;175;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6" name="Google Shape;176;p20"/>
          <p:cNvSpPr txBox="1"/>
          <p:nvPr/>
        </p:nvSpPr>
        <p:spPr>
          <a:xfrm>
            <a:off x="445550" y="2909400"/>
            <a:ext cx="11601600" cy="51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75" u="none" cap="none" strike="noStrike">
                <a:solidFill>
                  <a:srgbClr val="F5F5F5"/>
                </a:solidFill>
                <a:latin typeface="Urbanist"/>
                <a:ea typeface="Urbanist"/>
                <a:cs typeface="Urbanist"/>
                <a:sym typeface="Urbanist"/>
              </a:rPr>
              <a:t>M</a:t>
            </a:r>
            <a:r>
              <a:rPr b="1" lang="en-US" sz="3375">
                <a:solidFill>
                  <a:srgbClr val="F5F5F5"/>
                </a:solidFill>
                <a:latin typeface="Urbanist"/>
                <a:ea typeface="Urbanist"/>
                <a:cs typeface="Urbanist"/>
                <a:sym typeface="Urbanist"/>
              </a:rPr>
              <a:t>on</a:t>
            </a:r>
            <a:r>
              <a:rPr b="1" i="0" lang="en-US" sz="3375" u="none" cap="none" strike="noStrike">
                <a:solidFill>
                  <a:srgbClr val="F5F5F5"/>
                </a:solidFill>
                <a:latin typeface="Urbanist"/>
                <a:ea typeface="Urbanist"/>
                <a:cs typeface="Urbanist"/>
                <a:sym typeface="Urbanist"/>
              </a:rPr>
              <a:t> </a:t>
            </a:r>
            <a:r>
              <a:rPr b="1" i="0" lang="en-US" sz="3375" u="none" cap="none" strike="noStrike">
                <a:solidFill>
                  <a:srgbClr val="DEFF9A"/>
                </a:solidFill>
                <a:latin typeface="Urbanist"/>
                <a:ea typeface="Urbanist"/>
                <a:cs typeface="Urbanist"/>
                <a:sym typeface="Urbanist"/>
              </a:rPr>
              <a:t>Certificat</a:t>
            </a:r>
            <a:endParaRPr/>
          </a:p>
        </p:txBody>
      </p:sp>
      <p:pic>
        <p:nvPicPr>
          <p:cNvPr id="177" name="Google Shape;177;p20"/>
          <p:cNvPicPr preferRelativeResize="0"/>
          <p:nvPr/>
        </p:nvPicPr>
        <p:blipFill>
          <a:blip r:embed="rId4">
            <a:alphaModFix/>
          </a:blip>
          <a:stretch>
            <a:fillRect/>
          </a:stretch>
        </p:blipFill>
        <p:spPr>
          <a:xfrm>
            <a:off x="4191775" y="848488"/>
            <a:ext cx="7300677" cy="51610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81" name="Shape 181"/>
        <p:cNvGrpSpPr/>
        <p:nvPr/>
      </p:nvGrpSpPr>
      <p:grpSpPr>
        <a:xfrm>
          <a:off x="0" y="0"/>
          <a:ext cx="0" cy="0"/>
          <a:chOff x="0" y="0"/>
          <a:chExt cx="0" cy="0"/>
        </a:xfrm>
      </p:grpSpPr>
      <p:pic>
        <p:nvPicPr>
          <p:cNvPr descr="image.png" id="182" name="Google Shape;182;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3" name="Google Shape;183;p21"/>
          <p:cNvSpPr txBox="1"/>
          <p:nvPr/>
        </p:nvSpPr>
        <p:spPr>
          <a:xfrm>
            <a:off x="571500" y="47625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75" u="none" cap="none" strike="noStrike">
                <a:solidFill>
                  <a:srgbClr val="F5F5F5"/>
                </a:solidFill>
                <a:latin typeface="Urbanist"/>
                <a:ea typeface="Urbanist"/>
                <a:cs typeface="Urbanist"/>
                <a:sym typeface="Urbanist"/>
              </a:rPr>
              <a:t>Le Bilan du </a:t>
            </a:r>
            <a:r>
              <a:rPr b="1" i="0" lang="en-US" sz="3375" u="none" cap="none" strike="noStrike">
                <a:solidFill>
                  <a:srgbClr val="DEFF9A"/>
                </a:solidFill>
                <a:latin typeface="Urbanist"/>
                <a:ea typeface="Urbanist"/>
                <a:cs typeface="Urbanist"/>
                <a:sym typeface="Urbanist"/>
              </a:rPr>
              <a:t>Certificat</a:t>
            </a:r>
            <a:endParaRPr/>
          </a:p>
        </p:txBody>
      </p:sp>
      <p:sp>
        <p:nvSpPr>
          <p:cNvPr id="184" name="Google Shape;184;p21"/>
          <p:cNvSpPr txBox="1"/>
          <p:nvPr/>
        </p:nvSpPr>
        <p:spPr>
          <a:xfrm>
            <a:off x="1876425" y="2543175"/>
            <a:ext cx="8439150" cy="20002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3750" u="none" cap="none" strike="noStrike">
                <a:solidFill>
                  <a:srgbClr val="F5F5F5"/>
                </a:solidFill>
                <a:latin typeface="Urbanist"/>
                <a:ea typeface="Urbanist"/>
                <a:cs typeface="Urbanist"/>
                <a:sym typeface="Urbanist"/>
              </a:rPr>
              <a:t>Vous disposez de connaissances solides... Vous pouvez venir en aide à d'autres personnes.</a:t>
            </a:r>
            <a:endParaRPr/>
          </a:p>
        </p:txBody>
      </p:sp>
      <p:sp>
        <p:nvSpPr>
          <p:cNvPr id="185" name="Google Shape;185;p21"/>
          <p:cNvSpPr txBox="1"/>
          <p:nvPr/>
        </p:nvSpPr>
        <p:spPr>
          <a:xfrm>
            <a:off x="4657725" y="4953000"/>
            <a:ext cx="2876550" cy="2286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1" lang="en-US" sz="1500" u="none" cap="none" strike="noStrike">
                <a:solidFill>
                  <a:srgbClr val="DAFFDE"/>
                </a:solidFill>
                <a:latin typeface="Urbanist"/>
                <a:ea typeface="Urbanist"/>
                <a:cs typeface="Urbanist"/>
                <a:sym typeface="Urbanist"/>
              </a:rPr>
              <a:t>— Extrait de mon profil certifié PIX</a:t>
            </a:r>
            <a:endParaRPr/>
          </a:p>
        </p:txBody>
      </p:sp>
      <p:sp>
        <p:nvSpPr>
          <p:cNvPr id="186" name="Google Shape;186;p21"/>
          <p:cNvSpPr txBox="1"/>
          <p:nvPr/>
        </p:nvSpPr>
        <p:spPr>
          <a:xfrm>
            <a:off x="1209675" y="2924175"/>
            <a:ext cx="333375" cy="1371600"/>
          </a:xfrm>
          <a:prstGeom prst="rect">
            <a:avLst/>
          </a:prstGeom>
          <a:noFill/>
          <a:ln>
            <a:noFill/>
          </a:ln>
        </p:spPr>
        <p:txBody>
          <a:bodyPr anchorCtr="0" anchor="t" bIns="0" lIns="0" spcFirstLastPara="1" rIns="0" wrap="square" tIns="0">
            <a:spAutoFit/>
          </a:bodyPr>
          <a:lstStyle/>
          <a:p>
            <a:pPr indent="0" lvl="0" marL="0" marR="0" rtl="0" algn="l">
              <a:lnSpc>
                <a:spcPct val="0"/>
              </a:lnSpc>
              <a:spcBef>
                <a:spcPts val="0"/>
              </a:spcBef>
              <a:spcAft>
                <a:spcPts val="0"/>
              </a:spcAft>
              <a:buNone/>
            </a:pPr>
            <a:r>
              <a:rPr b="1" i="0" lang="en-US" sz="9000" u="none" cap="none" strike="noStrike">
                <a:solidFill>
                  <a:srgbClr val="DEFF9A"/>
                </a:solidFill>
                <a:latin typeface="Urbanist"/>
                <a:ea typeface="Urbanist"/>
                <a:cs typeface="Urbanist"/>
                <a:sym typeface="Urbanist"/>
              </a:rPr>
              <a:t>"</a:t>
            </a:r>
            <a:endParaRPr/>
          </a:p>
        </p:txBody>
      </p:sp>
      <p:sp>
        <p:nvSpPr>
          <p:cNvPr id="187" name="Google Shape;187;p21"/>
          <p:cNvSpPr txBox="1"/>
          <p:nvPr/>
        </p:nvSpPr>
        <p:spPr>
          <a:xfrm>
            <a:off x="10648950" y="4543425"/>
            <a:ext cx="333375" cy="1371600"/>
          </a:xfrm>
          <a:prstGeom prst="rect">
            <a:avLst/>
          </a:prstGeom>
          <a:noFill/>
          <a:ln>
            <a:noFill/>
          </a:ln>
        </p:spPr>
        <p:txBody>
          <a:bodyPr anchorCtr="0" anchor="t" bIns="0" lIns="0" spcFirstLastPara="1" rIns="0" wrap="square" tIns="0">
            <a:spAutoFit/>
          </a:bodyPr>
          <a:lstStyle/>
          <a:p>
            <a:pPr indent="0" lvl="0" marL="0" marR="0" rtl="0" algn="l">
              <a:lnSpc>
                <a:spcPct val="0"/>
              </a:lnSpc>
              <a:spcBef>
                <a:spcPts val="0"/>
              </a:spcBef>
              <a:spcAft>
                <a:spcPts val="0"/>
              </a:spcAft>
              <a:buNone/>
            </a:pPr>
            <a:r>
              <a:rPr b="1" i="0" lang="en-US" sz="9000" u="none" cap="none" strike="noStrike">
                <a:solidFill>
                  <a:srgbClr val="DEFF9A"/>
                </a:solidFill>
                <a:latin typeface="Urbanist"/>
                <a:ea typeface="Urbanist"/>
                <a:cs typeface="Urbanist"/>
                <a:sym typeface="Urbanist"/>
              </a:rPr>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91" name="Shape 191"/>
        <p:cNvGrpSpPr/>
        <p:nvPr/>
      </p:nvGrpSpPr>
      <p:grpSpPr>
        <a:xfrm>
          <a:off x="0" y="0"/>
          <a:ext cx="0" cy="0"/>
          <a:chOff x="0" y="0"/>
          <a:chExt cx="0" cy="0"/>
        </a:xfrm>
      </p:grpSpPr>
      <p:pic>
        <p:nvPicPr>
          <p:cNvPr descr="image.png" id="192" name="Google Shape;192;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3" name="Google Shape;193;p22"/>
          <p:cNvSpPr txBox="1"/>
          <p:nvPr/>
        </p:nvSpPr>
        <p:spPr>
          <a:xfrm>
            <a:off x="571500" y="47625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75" u="none" cap="none" strike="noStrike">
                <a:solidFill>
                  <a:srgbClr val="F5F5F5"/>
                </a:solidFill>
                <a:latin typeface="Urbanist"/>
                <a:ea typeface="Urbanist"/>
                <a:cs typeface="Urbanist"/>
                <a:sym typeface="Urbanist"/>
              </a:rPr>
              <a:t>Compétences validées &amp; </a:t>
            </a:r>
            <a:r>
              <a:rPr b="1" i="0" lang="en-US" sz="3375" u="none" cap="none" strike="noStrike">
                <a:solidFill>
                  <a:srgbClr val="DEFF9A"/>
                </a:solidFill>
                <a:latin typeface="Urbanist"/>
                <a:ea typeface="Urbanist"/>
                <a:cs typeface="Urbanist"/>
                <a:sym typeface="Urbanist"/>
              </a:rPr>
              <a:t>Option SISR</a:t>
            </a:r>
            <a:endParaRPr/>
          </a:p>
        </p:txBody>
      </p:sp>
      <p:sp>
        <p:nvSpPr>
          <p:cNvPr id="194" name="Google Shape;194;p22"/>
          <p:cNvSpPr txBox="1"/>
          <p:nvPr/>
        </p:nvSpPr>
        <p:spPr>
          <a:xfrm>
            <a:off x="1143000" y="2005012"/>
            <a:ext cx="10477500" cy="9620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F5F5F5"/>
                </a:solidFill>
                <a:latin typeface="Urbanist"/>
                <a:ea typeface="Urbanist"/>
                <a:cs typeface="Urbanist"/>
                <a:sym typeface="Urbanist"/>
              </a:rPr>
              <a:t>Recherche de l'information de façon fiable</a:t>
            </a:r>
            <a:r>
              <a:rPr b="0" i="0" lang="en-US" sz="1500" u="none" cap="none" strike="noStrike">
                <a:solidFill>
                  <a:srgbClr val="DAFFDE"/>
                </a:solidFill>
                <a:latin typeface="Urbanist"/>
                <a:ea typeface="Urbanist"/>
                <a:cs typeface="Urbanist"/>
                <a:sym typeface="Urbanist"/>
              </a:rPr>
              <a:t> Essentiel en administration système pour la veille technologique, la lecture de documentations complexes et le troubleshooting de pannes serveurs.</a:t>
            </a:r>
            <a:endParaRPr/>
          </a:p>
        </p:txBody>
      </p:sp>
      <p:sp>
        <p:nvSpPr>
          <p:cNvPr id="195" name="Google Shape;195;p22"/>
          <p:cNvSpPr txBox="1"/>
          <p:nvPr/>
        </p:nvSpPr>
        <p:spPr>
          <a:xfrm>
            <a:off x="1143000" y="3252787"/>
            <a:ext cx="10477500" cy="962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F5F5F5"/>
                </a:solidFill>
                <a:latin typeface="Urbanist"/>
                <a:ea typeface="Urbanist"/>
                <a:cs typeface="Urbanist"/>
                <a:sym typeface="Urbanist"/>
              </a:rPr>
              <a:t>Mise en place d'un environnement numérique</a:t>
            </a:r>
            <a:r>
              <a:rPr b="0" i="0" lang="en-US" sz="1500" u="none" cap="none" strike="noStrike">
                <a:solidFill>
                  <a:srgbClr val="DAFFDE"/>
                </a:solidFill>
                <a:latin typeface="Urbanist"/>
                <a:ea typeface="Urbanist"/>
                <a:cs typeface="Urbanist"/>
                <a:sym typeface="Urbanist"/>
              </a:rPr>
              <a:t> En lien direct avec mes missions d'installation, de configuration et de déploiement de postes de travail clients dans le domaine de l'entreprise.</a:t>
            </a:r>
            <a:endParaRPr/>
          </a:p>
        </p:txBody>
      </p:sp>
      <p:sp>
        <p:nvSpPr>
          <p:cNvPr id="196" name="Google Shape;196;p22"/>
          <p:cNvSpPr txBox="1"/>
          <p:nvPr/>
        </p:nvSpPr>
        <p:spPr>
          <a:xfrm>
            <a:off x="1143000" y="4500562"/>
            <a:ext cx="10477500" cy="9620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F5F5F5"/>
                </a:solidFill>
                <a:latin typeface="Urbanist"/>
                <a:ea typeface="Urbanist"/>
                <a:cs typeface="Urbanist"/>
                <a:sym typeface="Urbanist"/>
              </a:rPr>
              <a:t>Compréhension des enjeux du traçage des données</a:t>
            </a:r>
            <a:r>
              <a:rPr b="0" i="0" lang="en-US" sz="1500" u="none" cap="none" strike="noStrike">
                <a:solidFill>
                  <a:srgbClr val="DAFFDE"/>
                </a:solidFill>
                <a:latin typeface="Urbanist"/>
                <a:ea typeface="Urbanist"/>
                <a:cs typeface="Urbanist"/>
                <a:sym typeface="Urbanist"/>
              </a:rPr>
              <a:t> Une base fondamentale pour la gestion de la cybersécurité, l'analyse des logs réseaux et la mise en conformité RGPD d'une infrastructure.</a:t>
            </a:r>
            <a:endParaRPr/>
          </a:p>
        </p:txBody>
      </p:sp>
      <p:pic>
        <p:nvPicPr>
          <p:cNvPr descr="image.png" id="197" name="Google Shape;197;p22"/>
          <p:cNvPicPr preferRelativeResize="0"/>
          <p:nvPr/>
        </p:nvPicPr>
        <p:blipFill rotWithShape="1">
          <a:blip r:embed="rId4">
            <a:alphaModFix/>
          </a:blip>
          <a:srcRect b="0" l="0" r="0" t="0"/>
          <a:stretch/>
        </p:blipFill>
        <p:spPr>
          <a:xfrm>
            <a:off x="571500" y="1981200"/>
            <a:ext cx="247650" cy="295275"/>
          </a:xfrm>
          <a:prstGeom prst="rect">
            <a:avLst/>
          </a:prstGeom>
          <a:noFill/>
          <a:ln>
            <a:noFill/>
          </a:ln>
        </p:spPr>
      </p:pic>
      <p:pic>
        <p:nvPicPr>
          <p:cNvPr descr="image.png" id="198" name="Google Shape;198;p22"/>
          <p:cNvPicPr preferRelativeResize="0"/>
          <p:nvPr/>
        </p:nvPicPr>
        <p:blipFill rotWithShape="1">
          <a:blip r:embed="rId5">
            <a:alphaModFix/>
          </a:blip>
          <a:srcRect b="0" l="0" r="0" t="0"/>
          <a:stretch/>
        </p:blipFill>
        <p:spPr>
          <a:xfrm>
            <a:off x="571500" y="4476750"/>
            <a:ext cx="247650" cy="295275"/>
          </a:xfrm>
          <a:prstGeom prst="rect">
            <a:avLst/>
          </a:prstGeom>
          <a:noFill/>
          <a:ln>
            <a:noFill/>
          </a:ln>
        </p:spPr>
      </p:pic>
      <p:pic>
        <p:nvPicPr>
          <p:cNvPr descr="image.png" id="199" name="Google Shape;199;p22"/>
          <p:cNvPicPr preferRelativeResize="0"/>
          <p:nvPr/>
        </p:nvPicPr>
        <p:blipFill rotWithShape="1">
          <a:blip r:embed="rId6">
            <a:alphaModFix/>
          </a:blip>
          <a:srcRect b="0" l="0" r="0" t="0"/>
          <a:stretch/>
        </p:blipFill>
        <p:spPr>
          <a:xfrm>
            <a:off x="571500" y="3228975"/>
            <a:ext cx="247650" cy="295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03" name="Shape 203"/>
        <p:cNvGrpSpPr/>
        <p:nvPr/>
      </p:nvGrpSpPr>
      <p:grpSpPr>
        <a:xfrm>
          <a:off x="0" y="0"/>
          <a:ext cx="0" cy="0"/>
          <a:chOff x="0" y="0"/>
          <a:chExt cx="0" cy="0"/>
        </a:xfrm>
      </p:grpSpPr>
      <p:pic>
        <p:nvPicPr>
          <p:cNvPr descr="image.png" id="204" name="Google Shape;204;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5" name="Google Shape;205;p23"/>
          <p:cNvPicPr preferRelativeResize="0"/>
          <p:nvPr/>
        </p:nvPicPr>
        <p:blipFill rotWithShape="1">
          <a:blip r:embed="rId4">
            <a:alphaModFix/>
          </a:blip>
          <a:srcRect b="0" l="0" r="0" t="0"/>
          <a:stretch/>
        </p:blipFill>
        <p:spPr>
          <a:xfrm>
            <a:off x="714375" y="1850975"/>
            <a:ext cx="3429000" cy="2020937"/>
          </a:xfrm>
          <a:prstGeom prst="rect">
            <a:avLst/>
          </a:prstGeom>
          <a:noFill/>
          <a:ln>
            <a:noFill/>
          </a:ln>
        </p:spPr>
      </p:pic>
      <p:pic>
        <p:nvPicPr>
          <p:cNvPr descr="image.png" id="206" name="Google Shape;206;p23"/>
          <p:cNvPicPr preferRelativeResize="0"/>
          <p:nvPr/>
        </p:nvPicPr>
        <p:blipFill rotWithShape="1">
          <a:blip r:embed="rId5">
            <a:alphaModFix/>
          </a:blip>
          <a:srcRect b="0" l="0" r="0" t="0"/>
          <a:stretch/>
        </p:blipFill>
        <p:spPr>
          <a:xfrm>
            <a:off x="4381500" y="1850975"/>
            <a:ext cx="3429000" cy="2020937"/>
          </a:xfrm>
          <a:prstGeom prst="rect">
            <a:avLst/>
          </a:prstGeom>
          <a:noFill/>
          <a:ln>
            <a:noFill/>
          </a:ln>
        </p:spPr>
      </p:pic>
      <p:pic>
        <p:nvPicPr>
          <p:cNvPr descr="image.png" id="207" name="Google Shape;207;p23"/>
          <p:cNvPicPr preferRelativeResize="0"/>
          <p:nvPr/>
        </p:nvPicPr>
        <p:blipFill rotWithShape="1">
          <a:blip r:embed="rId6">
            <a:alphaModFix/>
          </a:blip>
          <a:srcRect b="0" l="0" r="0" t="0"/>
          <a:stretch/>
        </p:blipFill>
        <p:spPr>
          <a:xfrm>
            <a:off x="8048625" y="1850975"/>
            <a:ext cx="3429000" cy="2020937"/>
          </a:xfrm>
          <a:prstGeom prst="rect">
            <a:avLst/>
          </a:prstGeom>
          <a:noFill/>
          <a:ln>
            <a:noFill/>
          </a:ln>
        </p:spPr>
      </p:pic>
      <p:pic>
        <p:nvPicPr>
          <p:cNvPr descr="image.png" id="208" name="Google Shape;208;p23"/>
          <p:cNvPicPr preferRelativeResize="0"/>
          <p:nvPr/>
        </p:nvPicPr>
        <p:blipFill rotWithShape="1">
          <a:blip r:embed="rId7">
            <a:alphaModFix/>
          </a:blip>
          <a:srcRect b="0" l="0" r="0" t="0"/>
          <a:stretch/>
        </p:blipFill>
        <p:spPr>
          <a:xfrm>
            <a:off x="2547937" y="4110037"/>
            <a:ext cx="3429000" cy="1792337"/>
          </a:xfrm>
          <a:prstGeom prst="rect">
            <a:avLst/>
          </a:prstGeom>
          <a:noFill/>
          <a:ln>
            <a:noFill/>
          </a:ln>
        </p:spPr>
      </p:pic>
      <p:pic>
        <p:nvPicPr>
          <p:cNvPr descr="image.png" id="209" name="Google Shape;209;p23"/>
          <p:cNvPicPr preferRelativeResize="0"/>
          <p:nvPr/>
        </p:nvPicPr>
        <p:blipFill rotWithShape="1">
          <a:blip r:embed="rId8">
            <a:alphaModFix/>
          </a:blip>
          <a:srcRect b="0" l="0" r="0" t="0"/>
          <a:stretch/>
        </p:blipFill>
        <p:spPr>
          <a:xfrm>
            <a:off x="6215062" y="4110037"/>
            <a:ext cx="3429000" cy="1792337"/>
          </a:xfrm>
          <a:prstGeom prst="rect">
            <a:avLst/>
          </a:prstGeom>
          <a:noFill/>
          <a:ln>
            <a:noFill/>
          </a:ln>
        </p:spPr>
      </p:pic>
      <p:sp>
        <p:nvSpPr>
          <p:cNvPr id="210" name="Google Shape;210;p23"/>
          <p:cNvSpPr txBox="1"/>
          <p:nvPr/>
        </p:nvSpPr>
        <p:spPr>
          <a:xfrm>
            <a:off x="571500" y="476250"/>
            <a:ext cx="11601600" cy="51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75" u="none" cap="none" strike="noStrike">
                <a:solidFill>
                  <a:srgbClr val="F5F5F5"/>
                </a:solidFill>
                <a:latin typeface="Urbanist"/>
                <a:ea typeface="Urbanist"/>
                <a:cs typeface="Urbanist"/>
                <a:sym typeface="Urbanist"/>
              </a:rPr>
              <a:t>Les compétences </a:t>
            </a:r>
            <a:r>
              <a:rPr b="1" i="0" lang="en-US" sz="3375" u="none" cap="none" strike="noStrike">
                <a:solidFill>
                  <a:srgbClr val="DEFF9A"/>
                </a:solidFill>
                <a:latin typeface="Urbanist"/>
                <a:ea typeface="Urbanist"/>
                <a:cs typeface="Urbanist"/>
                <a:sym typeface="Urbanist"/>
              </a:rPr>
              <a:t>travaillées</a:t>
            </a:r>
            <a:endParaRPr/>
          </a:p>
        </p:txBody>
      </p:sp>
      <p:sp>
        <p:nvSpPr>
          <p:cNvPr id="211" name="Google Shape;211;p23"/>
          <p:cNvSpPr txBox="1"/>
          <p:nvPr/>
        </p:nvSpPr>
        <p:spPr>
          <a:xfrm>
            <a:off x="1228725" y="2098625"/>
            <a:ext cx="28005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DEFF9A"/>
                </a:solidFill>
                <a:latin typeface="Urbanist"/>
                <a:ea typeface="Urbanist"/>
                <a:cs typeface="Urbanist"/>
                <a:sym typeface="Urbanist"/>
              </a:rPr>
              <a:t>Informations et données</a:t>
            </a:r>
            <a:endParaRPr/>
          </a:p>
        </p:txBody>
      </p:sp>
      <p:sp>
        <p:nvSpPr>
          <p:cNvPr id="212" name="Google Shape;212;p23"/>
          <p:cNvSpPr txBox="1"/>
          <p:nvPr/>
        </p:nvSpPr>
        <p:spPr>
          <a:xfrm>
            <a:off x="4962525" y="2098625"/>
            <a:ext cx="2730300" cy="461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DEFF9A"/>
                </a:solidFill>
                <a:latin typeface="Urbanist"/>
                <a:ea typeface="Urbanist"/>
                <a:cs typeface="Urbanist"/>
                <a:sym typeface="Urbanist"/>
              </a:rPr>
              <a:t>Communication et collaboration</a:t>
            </a:r>
            <a:endParaRPr/>
          </a:p>
        </p:txBody>
      </p:sp>
      <p:sp>
        <p:nvSpPr>
          <p:cNvPr id="213" name="Google Shape;213;p23"/>
          <p:cNvSpPr txBox="1"/>
          <p:nvPr/>
        </p:nvSpPr>
        <p:spPr>
          <a:xfrm>
            <a:off x="8582025" y="2098625"/>
            <a:ext cx="27804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DEFF9A"/>
                </a:solidFill>
                <a:latin typeface="Urbanist"/>
                <a:ea typeface="Urbanist"/>
                <a:cs typeface="Urbanist"/>
                <a:sym typeface="Urbanist"/>
              </a:rPr>
              <a:t>Création de contenu</a:t>
            </a:r>
            <a:endParaRPr/>
          </a:p>
        </p:txBody>
      </p:sp>
      <p:sp>
        <p:nvSpPr>
          <p:cNvPr id="214" name="Google Shape;214;p23"/>
          <p:cNvSpPr txBox="1"/>
          <p:nvPr/>
        </p:nvSpPr>
        <p:spPr>
          <a:xfrm>
            <a:off x="3081337" y="4357687"/>
            <a:ext cx="27804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DEFF9A"/>
                </a:solidFill>
                <a:latin typeface="Urbanist"/>
                <a:ea typeface="Urbanist"/>
                <a:cs typeface="Urbanist"/>
                <a:sym typeface="Urbanist"/>
              </a:rPr>
              <a:t>Protection et sécurité</a:t>
            </a:r>
            <a:endParaRPr/>
          </a:p>
        </p:txBody>
      </p:sp>
      <p:sp>
        <p:nvSpPr>
          <p:cNvPr id="215" name="Google Shape;215;p23"/>
          <p:cNvSpPr txBox="1"/>
          <p:nvPr/>
        </p:nvSpPr>
        <p:spPr>
          <a:xfrm>
            <a:off x="6796087" y="4357687"/>
            <a:ext cx="27303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DEFF9A"/>
                </a:solidFill>
                <a:latin typeface="Urbanist"/>
                <a:ea typeface="Urbanist"/>
                <a:cs typeface="Urbanist"/>
                <a:sym typeface="Urbanist"/>
              </a:rPr>
              <a:t>Environnement numérique</a:t>
            </a:r>
            <a:endParaRPr/>
          </a:p>
        </p:txBody>
      </p:sp>
      <p:pic>
        <p:nvPicPr>
          <p:cNvPr descr="image.png" id="216" name="Google Shape;216;p23"/>
          <p:cNvPicPr preferRelativeResize="0"/>
          <p:nvPr/>
        </p:nvPicPr>
        <p:blipFill rotWithShape="1">
          <a:blip r:embed="rId9">
            <a:alphaModFix/>
          </a:blip>
          <a:srcRect b="0" l="0" r="0" t="0"/>
          <a:stretch/>
        </p:blipFill>
        <p:spPr>
          <a:xfrm>
            <a:off x="962025" y="2117675"/>
            <a:ext cx="171450" cy="190500"/>
          </a:xfrm>
          <a:prstGeom prst="rect">
            <a:avLst/>
          </a:prstGeom>
          <a:noFill/>
          <a:ln>
            <a:noFill/>
          </a:ln>
        </p:spPr>
      </p:pic>
      <p:sp>
        <p:nvSpPr>
          <p:cNvPr id="217" name="Google Shape;217;p23"/>
          <p:cNvSpPr txBox="1"/>
          <p:nvPr/>
        </p:nvSpPr>
        <p:spPr>
          <a:xfrm>
            <a:off x="1152525" y="2470100"/>
            <a:ext cx="2743200" cy="4431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DAFFDE"/>
                </a:solidFill>
                <a:latin typeface="Urbanist"/>
                <a:ea typeface="Urbanist"/>
                <a:cs typeface="Urbanist"/>
                <a:sym typeface="Urbanist"/>
              </a:rPr>
              <a:t>Mener une recherche de veille d'information</a:t>
            </a:r>
            <a:endParaRPr/>
          </a:p>
        </p:txBody>
      </p:sp>
      <p:sp>
        <p:nvSpPr>
          <p:cNvPr id="218" name="Google Shape;218;p23"/>
          <p:cNvSpPr txBox="1"/>
          <p:nvPr/>
        </p:nvSpPr>
        <p:spPr>
          <a:xfrm>
            <a:off x="1152525" y="2991891"/>
            <a:ext cx="27432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DAFFDE"/>
                </a:solidFill>
                <a:latin typeface="Urbanist"/>
                <a:ea typeface="Urbanist"/>
                <a:cs typeface="Urbanist"/>
                <a:sym typeface="Urbanist"/>
              </a:rPr>
              <a:t>Gérer des données</a:t>
            </a:r>
            <a:endParaRPr/>
          </a:p>
        </p:txBody>
      </p:sp>
      <p:sp>
        <p:nvSpPr>
          <p:cNvPr id="219" name="Google Shape;219;p23"/>
          <p:cNvSpPr txBox="1"/>
          <p:nvPr/>
        </p:nvSpPr>
        <p:spPr>
          <a:xfrm>
            <a:off x="1152525" y="3300412"/>
            <a:ext cx="27432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DAFFDE"/>
                </a:solidFill>
                <a:latin typeface="Urbanist"/>
                <a:ea typeface="Urbanist"/>
                <a:cs typeface="Urbanist"/>
                <a:sym typeface="Urbanist"/>
              </a:rPr>
              <a:t>Traiter des données</a:t>
            </a:r>
            <a:endParaRPr/>
          </a:p>
        </p:txBody>
      </p:sp>
      <p:pic>
        <p:nvPicPr>
          <p:cNvPr descr="image.png" id="220" name="Google Shape;220;p23"/>
          <p:cNvPicPr preferRelativeResize="0"/>
          <p:nvPr/>
        </p:nvPicPr>
        <p:blipFill rotWithShape="1">
          <a:blip r:embed="rId10">
            <a:alphaModFix/>
          </a:blip>
          <a:srcRect b="0" l="0" r="0" t="0"/>
          <a:stretch/>
        </p:blipFill>
        <p:spPr>
          <a:xfrm>
            <a:off x="4629150" y="2231975"/>
            <a:ext cx="238125" cy="190500"/>
          </a:xfrm>
          <a:prstGeom prst="rect">
            <a:avLst/>
          </a:prstGeom>
          <a:noFill/>
          <a:ln>
            <a:noFill/>
          </a:ln>
        </p:spPr>
      </p:pic>
      <p:sp>
        <p:nvSpPr>
          <p:cNvPr id="221" name="Google Shape;221;p23"/>
          <p:cNvSpPr txBox="1"/>
          <p:nvPr/>
        </p:nvSpPr>
        <p:spPr>
          <a:xfrm>
            <a:off x="4819650" y="2698700"/>
            <a:ext cx="27432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DAFFDE"/>
                </a:solidFill>
                <a:latin typeface="Urbanist"/>
                <a:ea typeface="Urbanist"/>
                <a:cs typeface="Urbanist"/>
                <a:sym typeface="Urbanist"/>
              </a:rPr>
              <a:t>Interagir, partager et publier</a:t>
            </a:r>
            <a:endParaRPr/>
          </a:p>
        </p:txBody>
      </p:sp>
      <p:sp>
        <p:nvSpPr>
          <p:cNvPr id="222" name="Google Shape;222;p23"/>
          <p:cNvSpPr txBox="1"/>
          <p:nvPr/>
        </p:nvSpPr>
        <p:spPr>
          <a:xfrm>
            <a:off x="4819650" y="3007221"/>
            <a:ext cx="27432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DAFFDE"/>
                </a:solidFill>
                <a:latin typeface="Urbanist"/>
                <a:ea typeface="Urbanist"/>
                <a:cs typeface="Urbanist"/>
                <a:sym typeface="Urbanist"/>
              </a:rPr>
              <a:t>Collaborer</a:t>
            </a:r>
            <a:endParaRPr/>
          </a:p>
        </p:txBody>
      </p:sp>
      <p:sp>
        <p:nvSpPr>
          <p:cNvPr id="223" name="Google Shape;223;p23"/>
          <p:cNvSpPr txBox="1"/>
          <p:nvPr/>
        </p:nvSpPr>
        <p:spPr>
          <a:xfrm>
            <a:off x="4819650" y="3315741"/>
            <a:ext cx="27432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DAFFDE"/>
                </a:solidFill>
                <a:latin typeface="Urbanist"/>
                <a:ea typeface="Urbanist"/>
                <a:cs typeface="Urbanist"/>
                <a:sym typeface="Urbanist"/>
              </a:rPr>
              <a:t>S'insérer dans le monde numérique</a:t>
            </a:r>
            <a:endParaRPr/>
          </a:p>
        </p:txBody>
      </p:sp>
      <p:pic>
        <p:nvPicPr>
          <p:cNvPr descr="image.png" id="224" name="Google Shape;224;p23"/>
          <p:cNvPicPr preferRelativeResize="0"/>
          <p:nvPr/>
        </p:nvPicPr>
        <p:blipFill rotWithShape="1">
          <a:blip r:embed="rId11">
            <a:alphaModFix/>
          </a:blip>
          <a:srcRect b="0" l="0" r="0" t="0"/>
          <a:stretch/>
        </p:blipFill>
        <p:spPr>
          <a:xfrm>
            <a:off x="8296275" y="2117675"/>
            <a:ext cx="190500" cy="190500"/>
          </a:xfrm>
          <a:prstGeom prst="rect">
            <a:avLst/>
          </a:prstGeom>
          <a:noFill/>
          <a:ln>
            <a:noFill/>
          </a:ln>
        </p:spPr>
      </p:pic>
      <p:sp>
        <p:nvSpPr>
          <p:cNvPr id="225" name="Google Shape;225;p23"/>
          <p:cNvSpPr txBox="1"/>
          <p:nvPr/>
        </p:nvSpPr>
        <p:spPr>
          <a:xfrm>
            <a:off x="8486775" y="2470100"/>
            <a:ext cx="27432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DAFFDE"/>
                </a:solidFill>
                <a:latin typeface="Urbanist"/>
                <a:ea typeface="Urbanist"/>
                <a:cs typeface="Urbanist"/>
                <a:sym typeface="Urbanist"/>
              </a:rPr>
              <a:t>Développer des documents textuels</a:t>
            </a:r>
            <a:endParaRPr/>
          </a:p>
        </p:txBody>
      </p:sp>
      <p:sp>
        <p:nvSpPr>
          <p:cNvPr id="226" name="Google Shape;226;p23"/>
          <p:cNvSpPr txBox="1"/>
          <p:nvPr/>
        </p:nvSpPr>
        <p:spPr>
          <a:xfrm>
            <a:off x="8486775" y="2778621"/>
            <a:ext cx="27432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DAFFDE"/>
                </a:solidFill>
                <a:latin typeface="Urbanist"/>
                <a:ea typeface="Urbanist"/>
                <a:cs typeface="Urbanist"/>
                <a:sym typeface="Urbanist"/>
              </a:rPr>
              <a:t>Développer des documents multimédias</a:t>
            </a:r>
            <a:endParaRPr/>
          </a:p>
        </p:txBody>
      </p:sp>
      <p:sp>
        <p:nvSpPr>
          <p:cNvPr id="227" name="Google Shape;227;p23"/>
          <p:cNvSpPr txBox="1"/>
          <p:nvPr/>
        </p:nvSpPr>
        <p:spPr>
          <a:xfrm>
            <a:off x="8486775" y="3087141"/>
            <a:ext cx="27432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DAFFDE"/>
                </a:solidFill>
                <a:latin typeface="Urbanist"/>
                <a:ea typeface="Urbanist"/>
                <a:cs typeface="Urbanist"/>
                <a:sym typeface="Urbanist"/>
              </a:rPr>
              <a:t>Programmer (bases algorithmiques)</a:t>
            </a:r>
            <a:endParaRPr/>
          </a:p>
        </p:txBody>
      </p:sp>
      <p:pic>
        <p:nvPicPr>
          <p:cNvPr descr="image.png" id="228" name="Google Shape;228;p23"/>
          <p:cNvPicPr preferRelativeResize="0"/>
          <p:nvPr/>
        </p:nvPicPr>
        <p:blipFill rotWithShape="1">
          <a:blip r:embed="rId12">
            <a:alphaModFix/>
          </a:blip>
          <a:srcRect b="0" l="0" r="0" t="0"/>
          <a:stretch/>
        </p:blipFill>
        <p:spPr>
          <a:xfrm>
            <a:off x="2795587" y="4376737"/>
            <a:ext cx="190500" cy="190500"/>
          </a:xfrm>
          <a:prstGeom prst="rect">
            <a:avLst/>
          </a:prstGeom>
          <a:noFill/>
          <a:ln>
            <a:noFill/>
          </a:ln>
        </p:spPr>
      </p:pic>
      <p:sp>
        <p:nvSpPr>
          <p:cNvPr id="229" name="Google Shape;229;p23"/>
          <p:cNvSpPr txBox="1"/>
          <p:nvPr/>
        </p:nvSpPr>
        <p:spPr>
          <a:xfrm>
            <a:off x="2986087" y="4729162"/>
            <a:ext cx="27432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DAFFDE"/>
                </a:solidFill>
                <a:latin typeface="Urbanist"/>
                <a:ea typeface="Urbanist"/>
                <a:cs typeface="Urbanist"/>
                <a:sym typeface="Urbanist"/>
              </a:rPr>
              <a:t>Sécuriser l'environnement numérique</a:t>
            </a:r>
            <a:endParaRPr/>
          </a:p>
        </p:txBody>
      </p:sp>
      <p:sp>
        <p:nvSpPr>
          <p:cNvPr id="230" name="Google Shape;230;p23"/>
          <p:cNvSpPr txBox="1"/>
          <p:nvPr/>
        </p:nvSpPr>
        <p:spPr>
          <a:xfrm>
            <a:off x="2986087" y="5037683"/>
            <a:ext cx="27432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DAFFDE"/>
                </a:solidFill>
                <a:latin typeface="Urbanist"/>
                <a:ea typeface="Urbanist"/>
                <a:cs typeface="Urbanist"/>
                <a:sym typeface="Urbanist"/>
              </a:rPr>
              <a:t>Protéger les données personnelles</a:t>
            </a:r>
            <a:endParaRPr/>
          </a:p>
        </p:txBody>
      </p:sp>
      <p:sp>
        <p:nvSpPr>
          <p:cNvPr id="231" name="Google Shape;231;p23"/>
          <p:cNvSpPr txBox="1"/>
          <p:nvPr/>
        </p:nvSpPr>
        <p:spPr>
          <a:xfrm>
            <a:off x="2986087" y="5346203"/>
            <a:ext cx="27432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DAFFDE"/>
                </a:solidFill>
                <a:latin typeface="Urbanist"/>
                <a:ea typeface="Urbanist"/>
                <a:cs typeface="Urbanist"/>
                <a:sym typeface="Urbanist"/>
              </a:rPr>
              <a:t>Protéger la santé et l'environnement</a:t>
            </a:r>
            <a:endParaRPr/>
          </a:p>
        </p:txBody>
      </p:sp>
      <p:pic>
        <p:nvPicPr>
          <p:cNvPr descr="image.png" id="232" name="Google Shape;232;p23"/>
          <p:cNvPicPr preferRelativeResize="0"/>
          <p:nvPr/>
        </p:nvPicPr>
        <p:blipFill rotWithShape="1">
          <a:blip r:embed="rId13">
            <a:alphaModFix/>
          </a:blip>
          <a:srcRect b="0" l="0" r="0" t="0"/>
          <a:stretch/>
        </p:blipFill>
        <p:spPr>
          <a:xfrm>
            <a:off x="6462712" y="4376737"/>
            <a:ext cx="238125" cy="190500"/>
          </a:xfrm>
          <a:prstGeom prst="rect">
            <a:avLst/>
          </a:prstGeom>
          <a:noFill/>
          <a:ln>
            <a:noFill/>
          </a:ln>
        </p:spPr>
      </p:pic>
      <p:sp>
        <p:nvSpPr>
          <p:cNvPr id="233" name="Google Shape;233;p23"/>
          <p:cNvSpPr txBox="1"/>
          <p:nvPr/>
        </p:nvSpPr>
        <p:spPr>
          <a:xfrm>
            <a:off x="6653212" y="4729162"/>
            <a:ext cx="27432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DAFFDE"/>
                </a:solidFill>
                <a:latin typeface="Urbanist"/>
                <a:ea typeface="Urbanist"/>
                <a:cs typeface="Urbanist"/>
                <a:sym typeface="Urbanist"/>
              </a:rPr>
              <a:t>Résoudre des problèmes techniques</a:t>
            </a:r>
            <a:endParaRPr/>
          </a:p>
        </p:txBody>
      </p:sp>
      <p:sp>
        <p:nvSpPr>
          <p:cNvPr id="234" name="Google Shape;234;p23"/>
          <p:cNvSpPr txBox="1"/>
          <p:nvPr/>
        </p:nvSpPr>
        <p:spPr>
          <a:xfrm>
            <a:off x="6653212" y="5037683"/>
            <a:ext cx="2743200" cy="1848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DAFFDE"/>
                </a:solidFill>
                <a:latin typeface="Urbanist"/>
                <a:ea typeface="Urbanist"/>
                <a:cs typeface="Urbanist"/>
                <a:sym typeface="Urbanist"/>
              </a:rPr>
              <a:t>Construire un environnement numérique</a:t>
            </a:r>
            <a:endParaRPr/>
          </a:p>
        </p:txBody>
      </p:sp>
      <p:sp>
        <p:nvSpPr>
          <p:cNvPr id="235" name="Google Shape;235;p23"/>
          <p:cNvSpPr txBox="1"/>
          <p:nvPr/>
        </p:nvSpPr>
        <p:spPr>
          <a:xfrm>
            <a:off x="962025" y="2451050"/>
            <a:ext cx="76200" cy="2079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DEFF9A"/>
                </a:solidFill>
                <a:latin typeface="Urbanist"/>
                <a:ea typeface="Urbanist"/>
                <a:cs typeface="Urbanist"/>
                <a:sym typeface="Urbanist"/>
              </a:rPr>
              <a:t>▹</a:t>
            </a:r>
            <a:endParaRPr/>
          </a:p>
        </p:txBody>
      </p:sp>
      <p:sp>
        <p:nvSpPr>
          <p:cNvPr id="236" name="Google Shape;236;p23"/>
          <p:cNvSpPr txBox="1"/>
          <p:nvPr/>
        </p:nvSpPr>
        <p:spPr>
          <a:xfrm>
            <a:off x="962025" y="2972841"/>
            <a:ext cx="76200" cy="2079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DEFF9A"/>
                </a:solidFill>
                <a:latin typeface="Urbanist"/>
                <a:ea typeface="Urbanist"/>
                <a:cs typeface="Urbanist"/>
                <a:sym typeface="Urbanist"/>
              </a:rPr>
              <a:t>▹</a:t>
            </a:r>
            <a:endParaRPr/>
          </a:p>
        </p:txBody>
      </p:sp>
      <p:sp>
        <p:nvSpPr>
          <p:cNvPr id="237" name="Google Shape;237;p23"/>
          <p:cNvSpPr txBox="1"/>
          <p:nvPr/>
        </p:nvSpPr>
        <p:spPr>
          <a:xfrm>
            <a:off x="962025" y="3281362"/>
            <a:ext cx="76200" cy="2079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DEFF9A"/>
                </a:solidFill>
                <a:latin typeface="Urbanist"/>
                <a:ea typeface="Urbanist"/>
                <a:cs typeface="Urbanist"/>
                <a:sym typeface="Urbanist"/>
              </a:rPr>
              <a:t>▹</a:t>
            </a:r>
            <a:endParaRPr/>
          </a:p>
        </p:txBody>
      </p:sp>
      <p:sp>
        <p:nvSpPr>
          <p:cNvPr id="238" name="Google Shape;238;p23"/>
          <p:cNvSpPr txBox="1"/>
          <p:nvPr/>
        </p:nvSpPr>
        <p:spPr>
          <a:xfrm>
            <a:off x="4629150" y="2679650"/>
            <a:ext cx="76200" cy="2079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DEFF9A"/>
                </a:solidFill>
                <a:latin typeface="Urbanist"/>
                <a:ea typeface="Urbanist"/>
                <a:cs typeface="Urbanist"/>
                <a:sym typeface="Urbanist"/>
              </a:rPr>
              <a:t>▹</a:t>
            </a:r>
            <a:endParaRPr/>
          </a:p>
        </p:txBody>
      </p:sp>
      <p:sp>
        <p:nvSpPr>
          <p:cNvPr id="239" name="Google Shape;239;p23"/>
          <p:cNvSpPr txBox="1"/>
          <p:nvPr/>
        </p:nvSpPr>
        <p:spPr>
          <a:xfrm>
            <a:off x="4629150" y="2988171"/>
            <a:ext cx="76200" cy="2079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DEFF9A"/>
                </a:solidFill>
                <a:latin typeface="Urbanist"/>
                <a:ea typeface="Urbanist"/>
                <a:cs typeface="Urbanist"/>
                <a:sym typeface="Urbanist"/>
              </a:rPr>
              <a:t>▹</a:t>
            </a:r>
            <a:endParaRPr/>
          </a:p>
        </p:txBody>
      </p:sp>
      <p:sp>
        <p:nvSpPr>
          <p:cNvPr id="240" name="Google Shape;240;p23"/>
          <p:cNvSpPr txBox="1"/>
          <p:nvPr/>
        </p:nvSpPr>
        <p:spPr>
          <a:xfrm>
            <a:off x="4629150" y="3296691"/>
            <a:ext cx="76200" cy="2079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DEFF9A"/>
                </a:solidFill>
                <a:latin typeface="Urbanist"/>
                <a:ea typeface="Urbanist"/>
                <a:cs typeface="Urbanist"/>
                <a:sym typeface="Urbanist"/>
              </a:rPr>
              <a:t>▹</a:t>
            </a:r>
            <a:endParaRPr/>
          </a:p>
        </p:txBody>
      </p:sp>
      <p:sp>
        <p:nvSpPr>
          <p:cNvPr id="241" name="Google Shape;241;p23"/>
          <p:cNvSpPr txBox="1"/>
          <p:nvPr/>
        </p:nvSpPr>
        <p:spPr>
          <a:xfrm>
            <a:off x="8296275" y="2451050"/>
            <a:ext cx="76200" cy="2079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DEFF9A"/>
                </a:solidFill>
                <a:latin typeface="Urbanist"/>
                <a:ea typeface="Urbanist"/>
                <a:cs typeface="Urbanist"/>
                <a:sym typeface="Urbanist"/>
              </a:rPr>
              <a:t>▹</a:t>
            </a:r>
            <a:endParaRPr/>
          </a:p>
        </p:txBody>
      </p:sp>
      <p:sp>
        <p:nvSpPr>
          <p:cNvPr id="242" name="Google Shape;242;p23"/>
          <p:cNvSpPr txBox="1"/>
          <p:nvPr/>
        </p:nvSpPr>
        <p:spPr>
          <a:xfrm>
            <a:off x="8296275" y="2759571"/>
            <a:ext cx="76200" cy="2079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DEFF9A"/>
                </a:solidFill>
                <a:latin typeface="Urbanist"/>
                <a:ea typeface="Urbanist"/>
                <a:cs typeface="Urbanist"/>
                <a:sym typeface="Urbanist"/>
              </a:rPr>
              <a:t>▹</a:t>
            </a:r>
            <a:endParaRPr/>
          </a:p>
        </p:txBody>
      </p:sp>
      <p:sp>
        <p:nvSpPr>
          <p:cNvPr id="243" name="Google Shape;243;p23"/>
          <p:cNvSpPr txBox="1"/>
          <p:nvPr/>
        </p:nvSpPr>
        <p:spPr>
          <a:xfrm>
            <a:off x="8296275" y="3068091"/>
            <a:ext cx="76200" cy="2079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DEFF9A"/>
                </a:solidFill>
                <a:latin typeface="Urbanist"/>
                <a:ea typeface="Urbanist"/>
                <a:cs typeface="Urbanist"/>
                <a:sym typeface="Urbanist"/>
              </a:rPr>
              <a:t>▹</a:t>
            </a:r>
            <a:endParaRPr/>
          </a:p>
        </p:txBody>
      </p:sp>
      <p:sp>
        <p:nvSpPr>
          <p:cNvPr id="244" name="Google Shape;244;p23"/>
          <p:cNvSpPr txBox="1"/>
          <p:nvPr/>
        </p:nvSpPr>
        <p:spPr>
          <a:xfrm>
            <a:off x="2795587" y="4710112"/>
            <a:ext cx="76200" cy="2079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DEFF9A"/>
                </a:solidFill>
                <a:latin typeface="Urbanist"/>
                <a:ea typeface="Urbanist"/>
                <a:cs typeface="Urbanist"/>
                <a:sym typeface="Urbanist"/>
              </a:rPr>
              <a:t>▹</a:t>
            </a:r>
            <a:endParaRPr/>
          </a:p>
        </p:txBody>
      </p:sp>
      <p:sp>
        <p:nvSpPr>
          <p:cNvPr id="245" name="Google Shape;245;p23"/>
          <p:cNvSpPr txBox="1"/>
          <p:nvPr/>
        </p:nvSpPr>
        <p:spPr>
          <a:xfrm>
            <a:off x="2795587" y="5018633"/>
            <a:ext cx="76200" cy="2079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DEFF9A"/>
                </a:solidFill>
                <a:latin typeface="Urbanist"/>
                <a:ea typeface="Urbanist"/>
                <a:cs typeface="Urbanist"/>
                <a:sym typeface="Urbanist"/>
              </a:rPr>
              <a:t>▹</a:t>
            </a:r>
            <a:endParaRPr/>
          </a:p>
        </p:txBody>
      </p:sp>
      <p:sp>
        <p:nvSpPr>
          <p:cNvPr id="246" name="Google Shape;246;p23"/>
          <p:cNvSpPr txBox="1"/>
          <p:nvPr/>
        </p:nvSpPr>
        <p:spPr>
          <a:xfrm>
            <a:off x="2795587" y="5327153"/>
            <a:ext cx="76200" cy="2079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DEFF9A"/>
                </a:solidFill>
                <a:latin typeface="Urbanist"/>
                <a:ea typeface="Urbanist"/>
                <a:cs typeface="Urbanist"/>
                <a:sym typeface="Urbanist"/>
              </a:rPr>
              <a:t>▹</a:t>
            </a:r>
            <a:endParaRPr/>
          </a:p>
        </p:txBody>
      </p:sp>
      <p:sp>
        <p:nvSpPr>
          <p:cNvPr id="247" name="Google Shape;247;p23"/>
          <p:cNvSpPr txBox="1"/>
          <p:nvPr/>
        </p:nvSpPr>
        <p:spPr>
          <a:xfrm>
            <a:off x="6462712" y="4710112"/>
            <a:ext cx="76200" cy="2079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DEFF9A"/>
                </a:solidFill>
                <a:latin typeface="Urbanist"/>
                <a:ea typeface="Urbanist"/>
                <a:cs typeface="Urbanist"/>
                <a:sym typeface="Urbanist"/>
              </a:rPr>
              <a:t>▹</a:t>
            </a:r>
            <a:endParaRPr/>
          </a:p>
        </p:txBody>
      </p:sp>
      <p:sp>
        <p:nvSpPr>
          <p:cNvPr id="248" name="Google Shape;248;p23"/>
          <p:cNvSpPr txBox="1"/>
          <p:nvPr/>
        </p:nvSpPr>
        <p:spPr>
          <a:xfrm>
            <a:off x="6462712" y="5018633"/>
            <a:ext cx="76200" cy="2079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DEFF9A"/>
                </a:solidFill>
                <a:latin typeface="Urbanist"/>
                <a:ea typeface="Urbanist"/>
                <a:cs typeface="Urbanist"/>
                <a:sym typeface="Urbanist"/>
              </a:rPr>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52" name="Shape 252"/>
        <p:cNvGrpSpPr/>
        <p:nvPr/>
      </p:nvGrpSpPr>
      <p:grpSpPr>
        <a:xfrm>
          <a:off x="0" y="0"/>
          <a:ext cx="0" cy="0"/>
          <a:chOff x="0" y="0"/>
          <a:chExt cx="0" cy="0"/>
        </a:xfrm>
      </p:grpSpPr>
      <p:pic>
        <p:nvPicPr>
          <p:cNvPr descr="image.png" id="253" name="Google Shape;253;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4" name="Google Shape;254;p24"/>
          <p:cNvSpPr txBox="1"/>
          <p:nvPr/>
        </p:nvSpPr>
        <p:spPr>
          <a:xfrm>
            <a:off x="571500" y="47625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75" u="none" cap="none" strike="noStrike">
                <a:solidFill>
                  <a:srgbClr val="F5F5F5"/>
                </a:solidFill>
                <a:latin typeface="Urbanist"/>
                <a:ea typeface="Urbanist"/>
                <a:cs typeface="Urbanist"/>
                <a:sym typeface="Urbanist"/>
              </a:rPr>
              <a:t>Ma Démarche de </a:t>
            </a:r>
            <a:r>
              <a:rPr b="1" i="0" lang="en-US" sz="3375" u="none" cap="none" strike="noStrike">
                <a:solidFill>
                  <a:srgbClr val="DEFF9A"/>
                </a:solidFill>
                <a:latin typeface="Urbanist"/>
                <a:ea typeface="Urbanist"/>
                <a:cs typeface="Urbanist"/>
                <a:sym typeface="Urbanist"/>
              </a:rPr>
              <a:t>Préparation</a:t>
            </a:r>
            <a:endParaRPr/>
          </a:p>
        </p:txBody>
      </p:sp>
      <p:sp>
        <p:nvSpPr>
          <p:cNvPr id="255" name="Google Shape;255;p24"/>
          <p:cNvSpPr/>
          <p:nvPr/>
        </p:nvSpPr>
        <p:spPr>
          <a:xfrm>
            <a:off x="571500" y="4095750"/>
            <a:ext cx="11049000" cy="38100"/>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6" name="Google Shape;256;p24"/>
          <p:cNvSpPr txBox="1"/>
          <p:nvPr/>
        </p:nvSpPr>
        <p:spPr>
          <a:xfrm>
            <a:off x="507968" y="4448175"/>
            <a:ext cx="2668302"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DEFF9A"/>
                </a:solidFill>
                <a:latin typeface="Urbanist"/>
                <a:ea typeface="Urbanist"/>
                <a:cs typeface="Urbanist"/>
                <a:sym typeface="Urbanist"/>
              </a:rPr>
              <a:t>Positionnement</a:t>
            </a:r>
            <a:endParaRPr/>
          </a:p>
        </p:txBody>
      </p:sp>
      <p:sp>
        <p:nvSpPr>
          <p:cNvPr id="257" name="Google Shape;257;p24"/>
          <p:cNvSpPr txBox="1"/>
          <p:nvPr/>
        </p:nvSpPr>
        <p:spPr>
          <a:xfrm>
            <a:off x="571500" y="4867275"/>
            <a:ext cx="2541240" cy="11430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DAFFDE"/>
                </a:solidFill>
                <a:latin typeface="Urbanist"/>
                <a:ea typeface="Urbanist"/>
                <a:cs typeface="Urbanist"/>
                <a:sym typeface="Urbanist"/>
              </a:rPr>
              <a:t>Passage des premiers tests sur la plateforme pour évaluer mon niveau initial et identifier mes lacunes.</a:t>
            </a:r>
            <a:endParaRPr/>
          </a:p>
        </p:txBody>
      </p:sp>
      <p:sp>
        <p:nvSpPr>
          <p:cNvPr id="258" name="Google Shape;258;p24"/>
          <p:cNvSpPr txBox="1"/>
          <p:nvPr/>
        </p:nvSpPr>
        <p:spPr>
          <a:xfrm>
            <a:off x="3343888" y="1790700"/>
            <a:ext cx="2668302"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DEFF9A"/>
                </a:solidFill>
                <a:latin typeface="Urbanist"/>
                <a:ea typeface="Urbanist"/>
                <a:cs typeface="Urbanist"/>
                <a:sym typeface="Urbanist"/>
              </a:rPr>
              <a:t>Ciblage</a:t>
            </a:r>
            <a:endParaRPr/>
          </a:p>
        </p:txBody>
      </p:sp>
      <p:sp>
        <p:nvSpPr>
          <p:cNvPr id="259" name="Google Shape;259;p24"/>
          <p:cNvSpPr txBox="1"/>
          <p:nvPr/>
        </p:nvSpPr>
        <p:spPr>
          <a:xfrm>
            <a:off x="3407419" y="2209800"/>
            <a:ext cx="2541240" cy="14287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DAFFDE"/>
                </a:solidFill>
                <a:latin typeface="Urbanist"/>
                <a:ea typeface="Urbanist"/>
                <a:cs typeface="Urbanist"/>
                <a:sym typeface="Urbanist"/>
              </a:rPr>
              <a:t>Analyse des résultats pour me concentrer sur les domaines nécessitant une amélioration (ex: création de contenus).</a:t>
            </a:r>
            <a:endParaRPr/>
          </a:p>
        </p:txBody>
      </p:sp>
      <p:sp>
        <p:nvSpPr>
          <p:cNvPr id="260" name="Google Shape;260;p24"/>
          <p:cNvSpPr txBox="1"/>
          <p:nvPr/>
        </p:nvSpPr>
        <p:spPr>
          <a:xfrm>
            <a:off x="6179808" y="4448175"/>
            <a:ext cx="2668302"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DEFF9A"/>
                </a:solidFill>
                <a:latin typeface="Urbanist"/>
                <a:ea typeface="Urbanist"/>
                <a:cs typeface="Urbanist"/>
                <a:sym typeface="Urbanist"/>
              </a:rPr>
              <a:t>Entraînement</a:t>
            </a:r>
            <a:endParaRPr/>
          </a:p>
        </p:txBody>
      </p:sp>
      <p:sp>
        <p:nvSpPr>
          <p:cNvPr id="261" name="Google Shape;261;p24"/>
          <p:cNvSpPr txBox="1"/>
          <p:nvPr/>
        </p:nvSpPr>
        <p:spPr>
          <a:xfrm>
            <a:off x="6243339" y="4867275"/>
            <a:ext cx="2541240" cy="11430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DAFFDE"/>
                </a:solidFill>
                <a:latin typeface="Urbanist"/>
                <a:ea typeface="Urbanist"/>
                <a:cs typeface="Urbanist"/>
                <a:sym typeface="Urbanist"/>
              </a:rPr>
              <a:t>Travail en autonomie sur les modules PIX, utilisation de tutoriels et mise en pratique en entreprise.</a:t>
            </a:r>
            <a:endParaRPr/>
          </a:p>
        </p:txBody>
      </p:sp>
      <p:sp>
        <p:nvSpPr>
          <p:cNvPr id="262" name="Google Shape;262;p24"/>
          <p:cNvSpPr txBox="1"/>
          <p:nvPr/>
        </p:nvSpPr>
        <p:spPr>
          <a:xfrm>
            <a:off x="9015728" y="2076450"/>
            <a:ext cx="2668302"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DEFF9A"/>
                </a:solidFill>
                <a:latin typeface="Urbanist"/>
                <a:ea typeface="Urbanist"/>
                <a:cs typeface="Urbanist"/>
                <a:sym typeface="Urbanist"/>
              </a:rPr>
              <a:t>Certification</a:t>
            </a:r>
            <a:endParaRPr/>
          </a:p>
        </p:txBody>
      </p:sp>
      <p:sp>
        <p:nvSpPr>
          <p:cNvPr id="263" name="Google Shape;263;p24"/>
          <p:cNvSpPr txBox="1"/>
          <p:nvPr/>
        </p:nvSpPr>
        <p:spPr>
          <a:xfrm>
            <a:off x="9079259" y="2495550"/>
            <a:ext cx="2541240" cy="11430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DAFFDE"/>
                </a:solidFill>
                <a:latin typeface="Urbanist"/>
                <a:ea typeface="Urbanist"/>
                <a:cs typeface="Urbanist"/>
                <a:sym typeface="Urbanist"/>
              </a:rPr>
              <a:t>Passage de l'épreuve officielle en centre certifié pour valider les acquis et obtenir le certificat final.</a:t>
            </a:r>
            <a:endParaRPr/>
          </a:p>
        </p:txBody>
      </p:sp>
      <p:sp>
        <p:nvSpPr>
          <p:cNvPr id="264" name="Google Shape;264;p24"/>
          <p:cNvSpPr/>
          <p:nvPr/>
        </p:nvSpPr>
        <p:spPr>
          <a:xfrm>
            <a:off x="1727820" y="4000500"/>
            <a:ext cx="228600" cy="228600"/>
          </a:xfrm>
          <a:prstGeom prst="roundRect">
            <a:avLst>
              <a:gd fmla="val 50000" name="adj"/>
            </a:avLst>
          </a:prstGeom>
          <a:solidFill>
            <a:srgbClr val="000000"/>
          </a:solidFill>
          <a:ln cap="flat" cmpd="sng" w="38100">
            <a:solidFill>
              <a:srgbClr val="DEFF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5" name="Google Shape;265;p24"/>
          <p:cNvSpPr/>
          <p:nvPr/>
        </p:nvSpPr>
        <p:spPr>
          <a:xfrm>
            <a:off x="4563740" y="4000500"/>
            <a:ext cx="228600" cy="228600"/>
          </a:xfrm>
          <a:prstGeom prst="roundRect">
            <a:avLst>
              <a:gd fmla="val 50000" name="adj"/>
            </a:avLst>
          </a:prstGeom>
          <a:solidFill>
            <a:srgbClr val="000000"/>
          </a:solidFill>
          <a:ln cap="flat" cmpd="sng" w="38100">
            <a:solidFill>
              <a:srgbClr val="DEFF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6" name="Google Shape;266;p24"/>
          <p:cNvSpPr/>
          <p:nvPr/>
        </p:nvSpPr>
        <p:spPr>
          <a:xfrm>
            <a:off x="7399659" y="4000500"/>
            <a:ext cx="228600" cy="228600"/>
          </a:xfrm>
          <a:prstGeom prst="roundRect">
            <a:avLst>
              <a:gd fmla="val 50000" name="adj"/>
            </a:avLst>
          </a:prstGeom>
          <a:solidFill>
            <a:srgbClr val="000000"/>
          </a:solidFill>
          <a:ln cap="flat" cmpd="sng" w="38100">
            <a:solidFill>
              <a:srgbClr val="DEFF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7" name="Google Shape;267;p24"/>
          <p:cNvSpPr/>
          <p:nvPr/>
        </p:nvSpPr>
        <p:spPr>
          <a:xfrm>
            <a:off x="10235579" y="4000500"/>
            <a:ext cx="228600" cy="228600"/>
          </a:xfrm>
          <a:prstGeom prst="roundRect">
            <a:avLst>
              <a:gd fmla="val 50000" name="adj"/>
            </a:avLst>
          </a:prstGeom>
          <a:solidFill>
            <a:srgbClr val="000000"/>
          </a:solidFill>
          <a:ln cap="flat" cmpd="sng" w="38100">
            <a:solidFill>
              <a:srgbClr val="DEFF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71" name="Shape 271"/>
        <p:cNvGrpSpPr/>
        <p:nvPr/>
      </p:nvGrpSpPr>
      <p:grpSpPr>
        <a:xfrm>
          <a:off x="0" y="0"/>
          <a:ext cx="0" cy="0"/>
          <a:chOff x="0" y="0"/>
          <a:chExt cx="0" cy="0"/>
        </a:xfrm>
      </p:grpSpPr>
      <p:pic>
        <p:nvPicPr>
          <p:cNvPr descr="image.png" id="272" name="Google Shape;272;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3" name="Google Shape;273;p25"/>
          <p:cNvPicPr preferRelativeResize="0"/>
          <p:nvPr/>
        </p:nvPicPr>
        <p:blipFill rotWithShape="1">
          <a:blip r:embed="rId4">
            <a:alphaModFix/>
          </a:blip>
          <a:srcRect b="0" l="0" r="0" t="0"/>
          <a:stretch/>
        </p:blipFill>
        <p:spPr>
          <a:xfrm>
            <a:off x="6334125" y="1371600"/>
            <a:ext cx="5286375" cy="4286250"/>
          </a:xfrm>
          <a:prstGeom prst="rect">
            <a:avLst/>
          </a:prstGeom>
          <a:noFill/>
          <a:ln>
            <a:noFill/>
          </a:ln>
        </p:spPr>
      </p:pic>
      <p:sp>
        <p:nvSpPr>
          <p:cNvPr id="274" name="Google Shape;274;p25"/>
          <p:cNvSpPr txBox="1"/>
          <p:nvPr/>
        </p:nvSpPr>
        <p:spPr>
          <a:xfrm>
            <a:off x="571500" y="47625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75" u="none" cap="none" strike="noStrike">
                <a:solidFill>
                  <a:srgbClr val="F5F5F5"/>
                </a:solidFill>
                <a:latin typeface="Urbanist"/>
                <a:ea typeface="Urbanist"/>
                <a:cs typeface="Urbanist"/>
                <a:sym typeface="Urbanist"/>
              </a:rPr>
              <a:t>Conclusion &amp; </a:t>
            </a:r>
            <a:r>
              <a:rPr b="1" i="0" lang="en-US" sz="3375" u="none" cap="none" strike="noStrike">
                <a:solidFill>
                  <a:srgbClr val="DEFF9A"/>
                </a:solidFill>
                <a:latin typeface="Urbanist"/>
                <a:ea typeface="Urbanist"/>
                <a:cs typeface="Urbanist"/>
                <a:sym typeface="Urbanist"/>
              </a:rPr>
              <a:t>Perspectives</a:t>
            </a:r>
            <a:endParaRPr/>
          </a:p>
        </p:txBody>
      </p:sp>
      <p:sp>
        <p:nvSpPr>
          <p:cNvPr id="275" name="Google Shape;275;p25"/>
          <p:cNvSpPr txBox="1"/>
          <p:nvPr/>
        </p:nvSpPr>
        <p:spPr>
          <a:xfrm>
            <a:off x="809625" y="2233612"/>
            <a:ext cx="5048250"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DAFFDE"/>
                </a:solidFill>
                <a:latin typeface="Urbanist"/>
                <a:ea typeface="Urbanist"/>
                <a:cs typeface="Urbanist"/>
                <a:sym typeface="Urbanist"/>
              </a:rPr>
              <a:t>Un profil complété :</a:t>
            </a:r>
            <a:r>
              <a:rPr b="0" i="0" lang="en-US" sz="1500" u="none" cap="none" strike="noStrike">
                <a:solidFill>
                  <a:srgbClr val="DAFFDE"/>
                </a:solidFill>
                <a:latin typeface="Urbanist"/>
                <a:ea typeface="Urbanist"/>
                <a:cs typeface="Urbanist"/>
                <a:sym typeface="Urbanist"/>
              </a:rPr>
              <a:t> PIX valide ma capacité à être un technicien non seulement technique, mais aussi polyvalent et proche des utilisateurs.</a:t>
            </a:r>
            <a:endParaRPr/>
          </a:p>
        </p:txBody>
      </p:sp>
      <p:sp>
        <p:nvSpPr>
          <p:cNvPr id="276" name="Google Shape;276;p25"/>
          <p:cNvSpPr txBox="1"/>
          <p:nvPr/>
        </p:nvSpPr>
        <p:spPr>
          <a:xfrm>
            <a:off x="809625" y="3328987"/>
            <a:ext cx="5048250"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DAFFDE"/>
                </a:solidFill>
                <a:latin typeface="Urbanist"/>
                <a:ea typeface="Urbanist"/>
                <a:cs typeface="Urbanist"/>
                <a:sym typeface="Urbanist"/>
              </a:rPr>
              <a:t>Prochaines étapes :</a:t>
            </a:r>
            <a:r>
              <a:rPr b="0" i="0" lang="en-US" sz="1500" u="none" cap="none" strike="noStrike">
                <a:solidFill>
                  <a:srgbClr val="DAFFDE"/>
                </a:solidFill>
                <a:latin typeface="Urbanist"/>
                <a:ea typeface="Urbanist"/>
                <a:cs typeface="Urbanist"/>
                <a:sym typeface="Urbanist"/>
              </a:rPr>
              <a:t> Maintenant que mon socle numérique est certifié, je souhaite me tourner vers des certifications plus spécialisées.</a:t>
            </a:r>
            <a:endParaRPr/>
          </a:p>
        </p:txBody>
      </p:sp>
      <p:sp>
        <p:nvSpPr>
          <p:cNvPr id="277" name="Google Shape;277;p25"/>
          <p:cNvSpPr txBox="1"/>
          <p:nvPr/>
        </p:nvSpPr>
        <p:spPr>
          <a:xfrm>
            <a:off x="809625" y="4424362"/>
            <a:ext cx="5048250"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DAFFDE"/>
                </a:solidFill>
                <a:latin typeface="Urbanist"/>
                <a:ea typeface="Urbanist"/>
                <a:cs typeface="Urbanist"/>
                <a:sym typeface="Urbanist"/>
              </a:rPr>
              <a:t>Projet à venir :</a:t>
            </a:r>
            <a:r>
              <a:rPr b="0" i="0" lang="en-US" sz="1500" u="none" cap="none" strike="noStrike">
                <a:solidFill>
                  <a:srgbClr val="DAFFDE"/>
                </a:solidFill>
                <a:latin typeface="Urbanist"/>
                <a:ea typeface="Urbanist"/>
                <a:cs typeface="Urbanist"/>
                <a:sym typeface="Urbanist"/>
              </a:rPr>
              <a:t> Préparation d'une certification réseau (type Cisco CCNA) ou d'une certification liée au Cloud pour appuyer mon profil d'Administrateur Systèmes et Réseaux.</a:t>
            </a:r>
            <a:endParaRPr/>
          </a:p>
        </p:txBody>
      </p:sp>
      <p:pic>
        <p:nvPicPr>
          <p:cNvPr descr="image.png" id="278" name="Google Shape;278;p25"/>
          <p:cNvPicPr preferRelativeResize="0"/>
          <p:nvPr/>
        </p:nvPicPr>
        <p:blipFill rotWithShape="1">
          <a:blip r:embed="rId5">
            <a:alphaModFix/>
          </a:blip>
          <a:srcRect b="0" l="0" r="0" t="0"/>
          <a:stretch/>
        </p:blipFill>
        <p:spPr>
          <a:xfrm>
            <a:off x="6343650" y="1381125"/>
            <a:ext cx="5267325" cy="4267200"/>
          </a:xfrm>
          <a:prstGeom prst="rect">
            <a:avLst/>
          </a:prstGeom>
          <a:noFill/>
          <a:ln>
            <a:noFill/>
          </a:ln>
        </p:spPr>
      </p:pic>
      <p:sp>
        <p:nvSpPr>
          <p:cNvPr id="279" name="Google Shape;279;p25"/>
          <p:cNvSpPr txBox="1"/>
          <p:nvPr/>
        </p:nvSpPr>
        <p:spPr>
          <a:xfrm>
            <a:off x="571500" y="2214562"/>
            <a:ext cx="104775" cy="361950"/>
          </a:xfrm>
          <a:prstGeom prst="rect">
            <a:avLst/>
          </a:prstGeom>
          <a:noFill/>
          <a:ln>
            <a:noFill/>
          </a:ln>
        </p:spPr>
        <p:txBody>
          <a:bodyPr anchorCtr="0" anchor="t" bIns="0" lIns="0" spcFirstLastPara="1" rIns="0" wrap="square" tIns="0">
            <a:spAutoFit/>
          </a:bodyPr>
          <a:lstStyle/>
          <a:p>
            <a:pPr indent="0" lvl="0" marL="0" marR="0" rtl="0" algn="l">
              <a:lnSpc>
                <a:spcPct val="149973"/>
              </a:lnSpc>
              <a:spcBef>
                <a:spcPts val="0"/>
              </a:spcBef>
              <a:spcAft>
                <a:spcPts val="0"/>
              </a:spcAft>
              <a:buNone/>
            </a:pPr>
            <a:r>
              <a:rPr b="0" i="0" lang="en-US" sz="1875" u="none" cap="none" strike="noStrike">
                <a:solidFill>
                  <a:srgbClr val="DEFF9A"/>
                </a:solidFill>
                <a:latin typeface="Urbanist"/>
                <a:ea typeface="Urbanist"/>
                <a:cs typeface="Urbanist"/>
                <a:sym typeface="Urbanist"/>
              </a:rPr>
              <a:t>▹</a:t>
            </a:r>
            <a:endParaRPr/>
          </a:p>
        </p:txBody>
      </p:sp>
      <p:sp>
        <p:nvSpPr>
          <p:cNvPr id="280" name="Google Shape;280;p25"/>
          <p:cNvSpPr txBox="1"/>
          <p:nvPr/>
        </p:nvSpPr>
        <p:spPr>
          <a:xfrm>
            <a:off x="571500" y="3309937"/>
            <a:ext cx="104775" cy="361950"/>
          </a:xfrm>
          <a:prstGeom prst="rect">
            <a:avLst/>
          </a:prstGeom>
          <a:noFill/>
          <a:ln>
            <a:noFill/>
          </a:ln>
        </p:spPr>
        <p:txBody>
          <a:bodyPr anchorCtr="0" anchor="t" bIns="0" lIns="0" spcFirstLastPara="1" rIns="0" wrap="square" tIns="0">
            <a:spAutoFit/>
          </a:bodyPr>
          <a:lstStyle/>
          <a:p>
            <a:pPr indent="0" lvl="0" marL="0" marR="0" rtl="0" algn="l">
              <a:lnSpc>
                <a:spcPct val="149973"/>
              </a:lnSpc>
              <a:spcBef>
                <a:spcPts val="0"/>
              </a:spcBef>
              <a:spcAft>
                <a:spcPts val="0"/>
              </a:spcAft>
              <a:buNone/>
            </a:pPr>
            <a:r>
              <a:rPr b="0" i="0" lang="en-US" sz="1875" u="none" cap="none" strike="noStrike">
                <a:solidFill>
                  <a:srgbClr val="DEFF9A"/>
                </a:solidFill>
                <a:latin typeface="Urbanist"/>
                <a:ea typeface="Urbanist"/>
                <a:cs typeface="Urbanist"/>
                <a:sym typeface="Urbanist"/>
              </a:rPr>
              <a:t>▹</a:t>
            </a:r>
            <a:endParaRPr/>
          </a:p>
        </p:txBody>
      </p:sp>
      <p:sp>
        <p:nvSpPr>
          <p:cNvPr id="281" name="Google Shape;281;p25"/>
          <p:cNvSpPr txBox="1"/>
          <p:nvPr/>
        </p:nvSpPr>
        <p:spPr>
          <a:xfrm>
            <a:off x="571500" y="4405312"/>
            <a:ext cx="104775" cy="361950"/>
          </a:xfrm>
          <a:prstGeom prst="rect">
            <a:avLst/>
          </a:prstGeom>
          <a:noFill/>
          <a:ln>
            <a:noFill/>
          </a:ln>
        </p:spPr>
        <p:txBody>
          <a:bodyPr anchorCtr="0" anchor="t" bIns="0" lIns="0" spcFirstLastPara="1" rIns="0" wrap="square" tIns="0">
            <a:spAutoFit/>
          </a:bodyPr>
          <a:lstStyle/>
          <a:p>
            <a:pPr indent="0" lvl="0" marL="0" marR="0" rtl="0" algn="l">
              <a:lnSpc>
                <a:spcPct val="149973"/>
              </a:lnSpc>
              <a:spcBef>
                <a:spcPts val="0"/>
              </a:spcBef>
              <a:spcAft>
                <a:spcPts val="0"/>
              </a:spcAft>
              <a:buNone/>
            </a:pPr>
            <a:r>
              <a:rPr b="0" i="0" lang="en-US" sz="1875" u="none" cap="none" strike="noStrike">
                <a:solidFill>
                  <a:srgbClr val="DEFF9A"/>
                </a:solidFill>
                <a:latin typeface="Urbanist"/>
                <a:ea typeface="Urbanist"/>
                <a:cs typeface="Urbanist"/>
                <a:sym typeface="Urbanist"/>
              </a:rPr>
              <a: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85" name="Shape 285"/>
        <p:cNvGrpSpPr/>
        <p:nvPr/>
      </p:nvGrpSpPr>
      <p:grpSpPr>
        <a:xfrm>
          <a:off x="0" y="0"/>
          <a:ext cx="0" cy="0"/>
          <a:chOff x="0" y="0"/>
          <a:chExt cx="0" cy="0"/>
        </a:xfrm>
      </p:grpSpPr>
      <p:pic>
        <p:nvPicPr>
          <p:cNvPr descr="image.png" id="286" name="Google Shape;286;p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87" name="Google Shape;287;p26"/>
          <p:cNvSpPr txBox="1"/>
          <p:nvPr/>
        </p:nvSpPr>
        <p:spPr>
          <a:xfrm>
            <a:off x="295275" y="2619375"/>
            <a:ext cx="11601450" cy="914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000" u="none" cap="none" strike="noStrike">
                <a:solidFill>
                  <a:srgbClr val="F5F5F5"/>
                </a:solidFill>
                <a:latin typeface="Urbanist"/>
                <a:ea typeface="Urbanist"/>
                <a:cs typeface="Urbanist"/>
                <a:sym typeface="Urbanist"/>
              </a:rPr>
              <a:t>Merci de votre </a:t>
            </a:r>
            <a:r>
              <a:rPr b="1" i="0" lang="en-US" sz="6000" u="none" cap="none" strike="noStrike">
                <a:solidFill>
                  <a:srgbClr val="DEFF9A"/>
                </a:solidFill>
                <a:latin typeface="Urbanist"/>
                <a:ea typeface="Urbanist"/>
                <a:cs typeface="Urbanist"/>
                <a:sym typeface="Urbanist"/>
              </a:rPr>
              <a:t>attention</a:t>
            </a:r>
            <a:endParaRPr/>
          </a:p>
        </p:txBody>
      </p:sp>
      <p:sp>
        <p:nvSpPr>
          <p:cNvPr id="288" name="Google Shape;288;p26"/>
          <p:cNvSpPr txBox="1"/>
          <p:nvPr/>
        </p:nvSpPr>
        <p:spPr>
          <a:xfrm>
            <a:off x="571500" y="3724275"/>
            <a:ext cx="11049000" cy="37147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950" u="none" cap="none" strike="noStrike">
                <a:solidFill>
                  <a:srgbClr val="DAFFDE"/>
                </a:solidFill>
                <a:latin typeface="Urbanist"/>
                <a:ea typeface="Urbanist"/>
                <a:cs typeface="Urbanist"/>
                <a:sym typeface="Urbanist"/>
              </a:rPr>
              <a:t>Avez-vous des questions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